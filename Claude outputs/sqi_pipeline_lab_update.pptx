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p:bgPr>
    </p:bg>
    <p:spTree>
      <p:nvGrpSpPr>
        <p:cNvPr id="1" name=""/>
        <p:cNvGrpSpPr/>
        <p:nvPr/>
      </p:nvGrpSpPr>
      <p:grpSpPr>
        <a:xfrm>
          <a:off x="0" y="0"/>
          <a:ext cx="0" cy="0"/>
          <a:chOff x="0" y="0"/>
          <a:chExt cx="0" cy="0"/>
        </a:xfrm>
      </p:grpSpPr>
      <p:sp>
        <p:nvSpPr>
          <p:cNvPr id="2" name="Text 0"/>
          <p:cNvSpPr txBox="1"/>
          <p:nvPr/>
        </p:nvSpPr>
        <p:spPr>
          <a:xfrm>
            <a:off x="731520" y="2377440"/>
            <a:ext cx="10698480" cy="1097280"/>
          </a:xfrm>
          <a:prstGeom prst="rect">
            <a:avLst/>
          </a:prstGeom>
          <a:noFill/>
          <a:ln/>
        </p:spPr>
        <p:txBody>
          <a:bodyPr wrap="square" lIns="0" tIns="0" rIns="0" bIns="0" rtlCol="0" anchor="ctr"/>
          <a:lstStyle/>
          <a:p>
            <a:pPr algn="l" indent="0" marL="0">
              <a:buNone/>
            </a:pPr>
            <a:r>
              <a:rPr lang="en-US" sz="4400" b="1" dirty="0">
                <a:solidFill>
                  <a:srgbClr val="FFFFFF"/>
                </a:solidFill>
                <a:latin typeface="Cambria" pitchFamily="34" charset="0"/>
                <a:ea typeface="Cambria" pitchFamily="34" charset="-122"/>
                <a:cs typeface="Cambria" pitchFamily="34" charset="-120"/>
              </a:rPr>
              <a:t>SQI Pipeline Update</a:t>
            </a:r>
            <a:endParaRPr lang="en-US" sz="4400" dirty="0"/>
          </a:p>
        </p:txBody>
      </p:sp>
      <p:sp>
        <p:nvSpPr>
          <p:cNvPr id="3" name="Text 1"/>
          <p:cNvSpPr txBox="1"/>
          <p:nvPr/>
        </p:nvSpPr>
        <p:spPr>
          <a:xfrm>
            <a:off x="731520" y="3429000"/>
            <a:ext cx="10058400" cy="640080"/>
          </a:xfrm>
          <a:prstGeom prst="rect">
            <a:avLst/>
          </a:prstGeom>
          <a:noFill/>
          <a:ln/>
        </p:spPr>
        <p:txBody>
          <a:bodyPr wrap="square" lIns="0" tIns="0" rIns="0" bIns="0" rtlCol="0" anchor="ctr"/>
          <a:lstStyle/>
          <a:p>
            <a:pPr algn="l" indent="0" marL="0">
              <a:buNone/>
            </a:pPr>
            <a:r>
              <a:rPr lang="en-US" sz="1800" dirty="0">
                <a:solidFill>
                  <a:srgbClr val="CADCFC"/>
                </a:solidFill>
                <a:latin typeface="Calibri" pitchFamily="34" charset="0"/>
                <a:ea typeface="Calibri" pitchFamily="34" charset="-122"/>
                <a:cs typeface="Calibri" pitchFamily="34" charset="-120"/>
              </a:rPr>
              <a:t>What changed, why, and where we landed with Mark &amp; Rutendo</a:t>
            </a:r>
            <a:endParaRPr lang="en-US" sz="1800" dirty="0"/>
          </a:p>
        </p:txBody>
      </p:sp>
      <p:sp>
        <p:nvSpPr>
          <p:cNvPr id="4" name="Text 2"/>
          <p:cNvSpPr txBox="1"/>
          <p:nvPr/>
        </p:nvSpPr>
        <p:spPr>
          <a:xfrm>
            <a:off x="731520" y="6126480"/>
            <a:ext cx="7315200" cy="365760"/>
          </a:xfrm>
          <a:prstGeom prst="rect">
            <a:avLst/>
          </a:prstGeom>
          <a:noFill/>
          <a:ln/>
        </p:spPr>
        <p:txBody>
          <a:bodyPr wrap="square" lIns="0" tIns="0" rIns="0" bIns="0" rtlCol="0" anchor="ctr"/>
          <a:lstStyle/>
          <a:p>
            <a:pPr algn="l" indent="0" marL="0">
              <a:buNone/>
            </a:pPr>
            <a:r>
              <a:rPr lang="en-US" sz="1200" dirty="0">
                <a:solidFill>
                  <a:srgbClr val="8FA6C9"/>
                </a:solidFill>
                <a:latin typeface="Calibri" pitchFamily="34" charset="0"/>
                <a:ea typeface="Calibri" pitchFamily="34" charset="-122"/>
                <a:cs typeface="Calibri" pitchFamily="34" charset="-120"/>
              </a:rPr>
              <a:t>Lab Meeting Update — Lupita</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57200" y="274320"/>
            <a:ext cx="11247120" cy="685800"/>
          </a:xfrm>
          <a:prstGeom prst="rect">
            <a:avLst/>
          </a:prstGeom>
          <a:noFill/>
          <a:ln/>
        </p:spPr>
        <p:txBody>
          <a:bodyPr wrap="square" lIns="0" tIns="0" rIns="0" bIns="0" rtlCol="0" anchor="ctr"/>
          <a:lstStyle/>
          <a:p>
            <a:pPr algn="l" indent="0" marL="0">
              <a:buNone/>
            </a:pPr>
            <a:r>
              <a:rPr lang="en-US" sz="3000" b="1" dirty="0">
                <a:solidFill>
                  <a:srgbClr val="065A82"/>
                </a:solidFill>
                <a:latin typeface="Cambria" pitchFamily="34" charset="0"/>
                <a:ea typeface="Cambria" pitchFamily="34" charset="-122"/>
                <a:cs typeface="Cambria" pitchFamily="34" charset="-120"/>
              </a:rPr>
              <a:t>Why We Changed Things</a:t>
            </a:r>
            <a:endParaRPr lang="en-US" sz="3000" dirty="0"/>
          </a:p>
        </p:txBody>
      </p:sp>
      <p:sp>
        <p:nvSpPr>
          <p:cNvPr id="3" name="Text 1"/>
          <p:cNvSpPr txBox="1"/>
          <p:nvPr/>
        </p:nvSpPr>
        <p:spPr>
          <a:xfrm>
            <a:off x="457200" y="1188720"/>
            <a:ext cx="6675120" cy="5212080"/>
          </a:xfrm>
          <a:prstGeom prst="rect">
            <a:avLst/>
          </a:prstGeom>
          <a:noFill/>
          <a:ln/>
        </p:spPr>
        <p:txBody>
          <a:bodyPr wrap="square" lIns="0" tIns="0" rIns="0" bIns="0" rtlCol="0" anchor="t"/>
          <a:lstStyle/>
          <a:p>
            <a:pPr algn="l" indent="0" marL="0">
              <a:spcAft>
                <a:spcPts val="1400"/>
              </a:spcAft>
              <a:buNone/>
            </a:pPr>
            <a:r>
              <a:rPr lang="en-US" sz="1500" dirty="0">
                <a:solidFill>
                  <a:srgbClr val="222222"/>
                </a:solidFill>
                <a:latin typeface="Calibri" pitchFamily="34" charset="0"/>
                <a:ea typeface="Calibri" pitchFamily="34" charset="-122"/>
                <a:cs typeface="Calibri" pitchFamily="34" charset="-120"/>
              </a:rPr>
              <a:t>Tried moving to a simpler window-level pipeline — filter, calculate PI, normalize the whole window, and classify it good/bad directly. No beat segmentation.</a:t>
            </a:r>
            <a:endParaRPr lang="en-US" sz="1500" dirty="0"/>
          </a:p>
          <a:p>
            <a:pPr algn="l" indent="0" marL="0">
              <a:spcAft>
                <a:spcPts val="1000"/>
              </a:spcAft>
              <a:buNone/>
            </a:pPr>
            <a:r>
              <a:rPr lang="en-US" sz="1500" dirty="0">
                <a:solidFill>
                  <a:srgbClr val="222222"/>
                </a:solidFill>
                <a:latin typeface="Calibri" pitchFamily="34" charset="0"/>
                <a:ea typeface="Calibri" pitchFamily="34" charset="-122"/>
                <a:cs typeface="Calibri" pitchFamily="34" charset="-120"/>
              </a:rPr>
              <a:t>Ran it on real data and almost everything came back “good.” Two problems turned up:</a:t>
            </a:r>
            <a:endParaRPr lang="en-US" sz="1500" dirty="0"/>
          </a:p>
          <a:p>
            <a:pPr algn="l" marL="342900" indent="-342900">
              <a:spcAft>
                <a:spcPts val="1000"/>
              </a:spcAft>
              <a:buSzPct val="100000"/>
              <a:buChar char="•"/>
            </a:pPr>
            <a:r>
              <a:rPr lang="en-US" sz="1500" dirty="0">
                <a:solidFill>
                  <a:srgbClr val="222222"/>
                </a:solidFill>
                <a:latin typeface="Calibri" pitchFamily="34" charset="0"/>
                <a:ea typeface="Calibri" pitchFamily="34" charset="-122"/>
                <a:cs typeface="Calibri" pitchFamily="34" charset="-120"/>
              </a:rPr>
              <a:t>The window-level check was only looking at clipping — a pretty lenient check on its own</a:t>
            </a:r>
            <a:endParaRPr lang="en-US" sz="1500" dirty="0"/>
          </a:p>
          <a:p>
            <a:pPr algn="l" marL="342900" indent="-342900">
              <a:buSzPct val="100000"/>
              <a:buChar char="•"/>
            </a:pPr>
            <a:r>
              <a:rPr lang="en-US" sz="1500" dirty="0">
                <a:solidFill>
                  <a:srgbClr val="222222"/>
                </a:solidFill>
                <a:latin typeface="Calibri" pitchFamily="34" charset="0"/>
                <a:ea typeface="Calibri" pitchFamily="34" charset="-122"/>
                <a:cs typeface="Calibri" pitchFamily="34" charset="-120"/>
              </a:rPr>
              <a:t>PI was blowing up to hundreds/thousands of percent on some windows because it was calculated off the filtered signal — the bandpass filter strips the DC baseline, so AC/DC stops meaning anything</a:t>
            </a:r>
            <a:endParaRPr lang="en-US" sz="1500" dirty="0"/>
          </a:p>
        </p:txBody>
      </p:sp>
      <p:sp>
        <p:nvSpPr>
          <p:cNvPr id="4" name="Shape 2"/>
          <p:cNvSpPr/>
          <p:nvPr/>
        </p:nvSpPr>
        <p:spPr>
          <a:xfrm>
            <a:off x="7589520" y="1188720"/>
            <a:ext cx="4114800" cy="5212080"/>
          </a:xfrm>
          <a:prstGeom prst="roundRect">
            <a:avLst>
              <a:gd name="adj" fmla="val 2667"/>
            </a:avLst>
          </a:prstGeom>
          <a:solidFill>
            <a:srgbClr val="F2F2F2"/>
          </a:solidFill>
          <a:ln w="19050">
            <a:solidFill>
              <a:srgbClr val="9AA0A6"/>
            </a:solidFill>
            <a:prstDash val="dash"/>
          </a:ln>
        </p:spPr>
      </p:sp>
      <p:sp>
        <p:nvSpPr>
          <p:cNvPr id="5" name="Text 3"/>
          <p:cNvSpPr txBox="1"/>
          <p:nvPr/>
        </p:nvSpPr>
        <p:spPr>
          <a:xfrm>
            <a:off x="7589520" y="1554480"/>
            <a:ext cx="4114800" cy="822960"/>
          </a:xfrm>
          <a:prstGeom prst="rect">
            <a:avLst/>
          </a:prstGeom>
          <a:noFill/>
          <a:ln/>
        </p:spPr>
        <p:txBody>
          <a:bodyPr wrap="square" lIns="0" tIns="0" rIns="0" bIns="0" rtlCol="0" anchor="ctr"/>
          <a:lstStyle/>
          <a:p>
            <a:pPr algn="ctr" indent="0" marL="0">
              <a:buNone/>
            </a:pPr>
            <a:r>
              <a:rPr lang="en-US" sz="3200" b="1" dirty="0">
                <a:solidFill>
                  <a:srgbClr val="9AA0A6"/>
                </a:solidFill>
                <a:latin typeface="Calibri" pitchFamily="34" charset="0"/>
                <a:ea typeface="Calibri" pitchFamily="34" charset="-122"/>
                <a:cs typeface="Calibri" pitchFamily="34" charset="-120"/>
              </a:rPr>
              <a:t>&lt;/&gt;</a:t>
            </a:r>
            <a:endParaRPr lang="en-US" sz="3200" dirty="0"/>
          </a:p>
        </p:txBody>
      </p:sp>
      <p:sp>
        <p:nvSpPr>
          <p:cNvPr id="6" name="Text 4"/>
          <p:cNvSpPr txBox="1"/>
          <p:nvPr/>
        </p:nvSpPr>
        <p:spPr>
          <a:xfrm>
            <a:off x="7589520" y="2468880"/>
            <a:ext cx="4114800" cy="457200"/>
          </a:xfrm>
          <a:prstGeom prst="rect">
            <a:avLst/>
          </a:prstGeom>
          <a:noFill/>
          <a:ln/>
        </p:spPr>
        <p:txBody>
          <a:bodyPr wrap="square" lIns="0" tIns="0" rIns="0" bIns="0" rtlCol="0" anchor="ctr"/>
          <a:lstStyle/>
          <a:p>
            <a:pPr algn="ctr" indent="0" marL="0">
              <a:buNone/>
            </a:pPr>
            <a:r>
              <a:rPr lang="en-US" sz="1600" b="1" dirty="0">
                <a:solidFill>
                  <a:srgbClr val="5A5A5A"/>
                </a:solidFill>
                <a:latin typeface="Calibri" pitchFamily="34" charset="0"/>
                <a:ea typeface="Calibri" pitchFamily="34" charset="-122"/>
                <a:cs typeface="Calibri" pitchFamily="34" charset="-120"/>
              </a:rPr>
              <a:t>Code snippet</a:t>
            </a:r>
            <a:endParaRPr lang="en-US" sz="1600" dirty="0"/>
          </a:p>
        </p:txBody>
      </p:sp>
      <p:sp>
        <p:nvSpPr>
          <p:cNvPr id="7" name="Text 5"/>
          <p:cNvSpPr txBox="1"/>
          <p:nvPr/>
        </p:nvSpPr>
        <p:spPr>
          <a:xfrm>
            <a:off x="7863840" y="2971800"/>
            <a:ext cx="3566160" cy="3200400"/>
          </a:xfrm>
          <a:prstGeom prst="rect">
            <a:avLst/>
          </a:prstGeom>
          <a:noFill/>
          <a:ln/>
        </p:spPr>
        <p:txBody>
          <a:bodyPr wrap="square" lIns="0" tIns="0" rIns="0" bIns="0" rtlCol="0" anchor="t"/>
          <a:lstStyle/>
          <a:p>
            <a:pPr algn="ctr" indent="0" marL="0">
              <a:buNone/>
            </a:pPr>
            <a:r>
              <a:rPr lang="en-US" sz="1200" i="1" dirty="0">
                <a:solidFill>
                  <a:srgbClr val="5A5A5A"/>
                </a:solidFill>
                <a:latin typeface="Calibri" pitchFamily="34" charset="0"/>
                <a:ea typeface="Calibri" pitchFamily="34" charset="-122"/>
                <a:cs typeface="Calibri" pitchFamily="34" charset="-120"/>
              </a:rPr>
              <a:t>e.g. old clipping-only classify_window(), or compute_perfusion_index() on the filtered signal</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57200" y="274320"/>
            <a:ext cx="11247120" cy="685800"/>
          </a:xfrm>
          <a:prstGeom prst="rect">
            <a:avLst/>
          </a:prstGeom>
          <a:noFill/>
          <a:ln/>
        </p:spPr>
        <p:txBody>
          <a:bodyPr wrap="square" lIns="0" tIns="0" rIns="0" bIns="0" rtlCol="0" anchor="ctr"/>
          <a:lstStyle/>
          <a:p>
            <a:pPr algn="l" indent="0" marL="0">
              <a:buNone/>
            </a:pPr>
            <a:r>
              <a:rPr lang="en-US" sz="3000" b="1" dirty="0">
                <a:solidFill>
                  <a:srgbClr val="065A82"/>
                </a:solidFill>
                <a:latin typeface="Cambria" pitchFamily="34" charset="0"/>
                <a:ea typeface="Cambria" pitchFamily="34" charset="-122"/>
                <a:cs typeface="Cambria" pitchFamily="34" charset="-120"/>
              </a:rPr>
              <a:t>Getting Realigned with Mark &amp; Rutendo</a:t>
            </a:r>
            <a:endParaRPr lang="en-US" sz="3000" dirty="0"/>
          </a:p>
        </p:txBody>
      </p:sp>
      <p:sp>
        <p:nvSpPr>
          <p:cNvPr id="3" name="Text 1"/>
          <p:cNvSpPr txBox="1"/>
          <p:nvPr/>
        </p:nvSpPr>
        <p:spPr>
          <a:xfrm>
            <a:off x="457200" y="1188720"/>
            <a:ext cx="6675120" cy="5212080"/>
          </a:xfrm>
          <a:prstGeom prst="rect">
            <a:avLst/>
          </a:prstGeom>
          <a:noFill/>
          <a:ln/>
        </p:spPr>
        <p:txBody>
          <a:bodyPr wrap="square" lIns="0" tIns="0" rIns="0" bIns="0" rtlCol="0" anchor="t"/>
          <a:lstStyle/>
          <a:p>
            <a:pPr algn="l" indent="0" marL="0">
              <a:spcAft>
                <a:spcPts val="1000"/>
              </a:spcAft>
              <a:buNone/>
            </a:pPr>
            <a:r>
              <a:rPr lang="en-US" sz="1500" dirty="0">
                <a:solidFill>
                  <a:srgbClr val="222222"/>
                </a:solidFill>
                <a:latin typeface="Calibri" pitchFamily="34" charset="0"/>
                <a:ea typeface="Calibri" pitchFamily="34" charset="-122"/>
                <a:cs typeface="Calibri" pitchFamily="34" charset="-120"/>
              </a:rPr>
              <a:t>Flagged both issues — Mark clarified two things that changed the plan:</a:t>
            </a:r>
            <a:endParaRPr lang="en-US" sz="1500" dirty="0"/>
          </a:p>
          <a:p>
            <a:pPr algn="l" marL="342900" indent="-342900">
              <a:spcAft>
                <a:spcPts val="1000"/>
              </a:spcAft>
              <a:buSzPct val="100000"/>
              <a:buChar char="•"/>
            </a:pPr>
            <a:r>
              <a:rPr lang="en-US" sz="1500" dirty="0">
                <a:solidFill>
                  <a:srgbClr val="222222"/>
                </a:solidFill>
                <a:latin typeface="Calibri" pitchFamily="34" charset="0"/>
                <a:ea typeface="Calibri" pitchFamily="34" charset="-122"/>
                <a:cs typeface="Calibri" pitchFamily="34" charset="-120"/>
              </a:rPr>
              <a:t>We still need beat-to-beat comparison happening, not just one check on the whole window</a:t>
            </a:r>
            <a:endParaRPr lang="en-US" sz="1500" dirty="0"/>
          </a:p>
          <a:p>
            <a:pPr algn="l" marL="342900" indent="-342900">
              <a:spcAft>
                <a:spcPts val="1400"/>
              </a:spcAft>
              <a:buSzPct val="100000"/>
              <a:buChar char="•"/>
            </a:pPr>
            <a:r>
              <a:rPr lang="en-US" sz="1500" dirty="0">
                <a:solidFill>
                  <a:srgbClr val="222222"/>
                </a:solidFill>
                <a:latin typeface="Calibri" pitchFamily="34" charset="0"/>
                <a:ea typeface="Calibri" pitchFamily="34" charset="-122"/>
                <a:cs typeface="Calibri" pitchFamily="34" charset="-120"/>
              </a:rPr>
              <a:t>Normalization should happen per beat, not per window — closer to our original pipeline than the window-only version</a:t>
            </a:r>
            <a:endParaRPr lang="en-US" sz="1500" dirty="0"/>
          </a:p>
          <a:p>
            <a:pPr algn="l" indent="0" marL="0">
              <a:buNone/>
            </a:pPr>
            <a:r>
              <a:rPr lang="en-US" sz="1500" dirty="0">
                <a:solidFill>
                  <a:srgbClr val="222222"/>
                </a:solidFill>
                <a:latin typeface="Calibri" pitchFamily="34" charset="0"/>
                <a:ea typeface="Calibri" pitchFamily="34" charset="-122"/>
                <a:cs typeface="Calibri" pitchFamily="34" charset="-120"/>
              </a:rPr>
              <a:t>New pipeline (next slide) got Mark's sign-off, with one open note: he's not fully sold on using an unfiltered window for PI, but didn't have a clean way around it without detrending messing with the filter — so we're moving forward and revisiting later if needed.</a:t>
            </a:r>
            <a:endParaRPr lang="en-US" sz="1500" dirty="0"/>
          </a:p>
        </p:txBody>
      </p:sp>
      <p:sp>
        <p:nvSpPr>
          <p:cNvPr id="4" name="Shape 2"/>
          <p:cNvSpPr/>
          <p:nvPr/>
        </p:nvSpPr>
        <p:spPr>
          <a:xfrm>
            <a:off x="7589520" y="1188720"/>
            <a:ext cx="4114800" cy="5212080"/>
          </a:xfrm>
          <a:prstGeom prst="roundRect">
            <a:avLst>
              <a:gd name="adj" fmla="val 2667"/>
            </a:avLst>
          </a:prstGeom>
          <a:solidFill>
            <a:srgbClr val="F2F2F2"/>
          </a:solidFill>
          <a:ln w="19050">
            <a:solidFill>
              <a:srgbClr val="9AA0A6"/>
            </a:solidFill>
            <a:prstDash val="dash"/>
          </a:ln>
        </p:spPr>
      </p:sp>
      <p:sp>
        <p:nvSpPr>
          <p:cNvPr id="5" name="Text 3"/>
          <p:cNvSpPr txBox="1"/>
          <p:nvPr/>
        </p:nvSpPr>
        <p:spPr>
          <a:xfrm>
            <a:off x="7589520" y="1554480"/>
            <a:ext cx="4114800" cy="822960"/>
          </a:xfrm>
          <a:prstGeom prst="rect">
            <a:avLst/>
          </a:prstGeom>
          <a:noFill/>
          <a:ln/>
        </p:spPr>
        <p:txBody>
          <a:bodyPr wrap="square" lIns="0" tIns="0" rIns="0" bIns="0" rtlCol="0" anchor="ctr"/>
          <a:lstStyle/>
          <a:p>
            <a:pPr algn="ctr" indent="0" marL="0">
              <a:buNone/>
            </a:pPr>
            <a:r>
              <a:rPr lang="en-US" sz="3200" b="1" dirty="0">
                <a:solidFill>
                  <a:srgbClr val="9AA0A6"/>
                </a:solidFill>
                <a:latin typeface="Calibri" pitchFamily="34" charset="0"/>
                <a:ea typeface="Calibri" pitchFamily="34" charset="-122"/>
                <a:cs typeface="Calibri" pitchFamily="34" charset="-120"/>
              </a:rPr>
              <a:t>&lt;/&gt;</a:t>
            </a:r>
            <a:endParaRPr lang="en-US" sz="3200" dirty="0"/>
          </a:p>
        </p:txBody>
      </p:sp>
      <p:sp>
        <p:nvSpPr>
          <p:cNvPr id="6" name="Text 4"/>
          <p:cNvSpPr txBox="1"/>
          <p:nvPr/>
        </p:nvSpPr>
        <p:spPr>
          <a:xfrm>
            <a:off x="7589520" y="2468880"/>
            <a:ext cx="4114800" cy="457200"/>
          </a:xfrm>
          <a:prstGeom prst="rect">
            <a:avLst/>
          </a:prstGeom>
          <a:noFill/>
          <a:ln/>
        </p:spPr>
        <p:txBody>
          <a:bodyPr wrap="square" lIns="0" tIns="0" rIns="0" bIns="0" rtlCol="0" anchor="ctr"/>
          <a:lstStyle/>
          <a:p>
            <a:pPr algn="ctr" indent="0" marL="0">
              <a:buNone/>
            </a:pPr>
            <a:r>
              <a:rPr lang="en-US" sz="1600" b="1" dirty="0">
                <a:solidFill>
                  <a:srgbClr val="5A5A5A"/>
                </a:solidFill>
                <a:latin typeface="Calibri" pitchFamily="34" charset="0"/>
                <a:ea typeface="Calibri" pitchFamily="34" charset="-122"/>
                <a:cs typeface="Calibri" pitchFamily="34" charset="-120"/>
              </a:rPr>
              <a:t>Code snippet</a:t>
            </a:r>
            <a:endParaRPr lang="en-US" sz="1600" dirty="0"/>
          </a:p>
        </p:txBody>
      </p:sp>
      <p:sp>
        <p:nvSpPr>
          <p:cNvPr id="7" name="Text 5"/>
          <p:cNvSpPr txBox="1"/>
          <p:nvPr/>
        </p:nvSpPr>
        <p:spPr>
          <a:xfrm>
            <a:off x="7863840" y="2971800"/>
            <a:ext cx="3566160" cy="3200400"/>
          </a:xfrm>
          <a:prstGeom prst="rect">
            <a:avLst/>
          </a:prstGeom>
          <a:noFill/>
          <a:ln/>
        </p:spPr>
        <p:txBody>
          <a:bodyPr wrap="square" lIns="0" tIns="0" rIns="0" bIns="0" rtlCol="0" anchor="t"/>
          <a:lstStyle/>
          <a:p>
            <a:pPr algn="ctr" indent="0" marL="0">
              <a:buNone/>
            </a:pPr>
            <a:r>
              <a:rPr lang="en-US" sz="1200" i="1" dirty="0">
                <a:solidFill>
                  <a:srgbClr val="5A5A5A"/>
                </a:solidFill>
                <a:latin typeface="Calibri" pitchFamily="34" charset="0"/>
                <a:ea typeface="Calibri" pitchFamily="34" charset="-122"/>
                <a:cs typeface="Calibri" pitchFamily="34" charset="-120"/>
              </a:rPr>
              <a:t>e.g. normalize_single_beat() — per-beat normalization</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57200" y="274320"/>
            <a:ext cx="11247120" cy="685800"/>
          </a:xfrm>
          <a:prstGeom prst="rect">
            <a:avLst/>
          </a:prstGeom>
          <a:noFill/>
          <a:ln/>
        </p:spPr>
        <p:txBody>
          <a:bodyPr wrap="square" lIns="0" tIns="0" rIns="0" bIns="0" rtlCol="0" anchor="ctr"/>
          <a:lstStyle/>
          <a:p>
            <a:pPr algn="l" indent="0" marL="0">
              <a:buNone/>
            </a:pPr>
            <a:r>
              <a:rPr lang="en-US" sz="3000" b="1" dirty="0">
                <a:solidFill>
                  <a:srgbClr val="065A82"/>
                </a:solidFill>
                <a:latin typeface="Cambria" pitchFamily="34" charset="0"/>
                <a:ea typeface="Cambria" pitchFamily="34" charset="-122"/>
                <a:cs typeface="Cambria" pitchFamily="34" charset="-120"/>
              </a:rPr>
              <a:t>Approved Pipeline</a:t>
            </a:r>
            <a:endParaRPr lang="en-US" sz="3000" dirty="0"/>
          </a:p>
        </p:txBody>
      </p:sp>
      <p:sp>
        <p:nvSpPr>
          <p:cNvPr id="3" name="Text 1"/>
          <p:cNvSpPr txBox="1"/>
          <p:nvPr/>
        </p:nvSpPr>
        <p:spPr>
          <a:xfrm>
            <a:off x="457200" y="914400"/>
            <a:ext cx="11247120" cy="365760"/>
          </a:xfrm>
          <a:prstGeom prst="rect">
            <a:avLst/>
          </a:prstGeom>
          <a:noFill/>
          <a:ln/>
        </p:spPr>
        <p:txBody>
          <a:bodyPr wrap="square" lIns="0" tIns="0" rIns="0" bIns="0" rtlCol="0" anchor="ctr"/>
          <a:lstStyle/>
          <a:p>
            <a:pPr algn="l" indent="0" marL="0">
              <a:buNone/>
            </a:pPr>
            <a:r>
              <a:rPr lang="en-US" sz="1300" i="1" dirty="0">
                <a:solidFill>
                  <a:srgbClr val="5A5A5A"/>
                </a:solidFill>
                <a:latin typeface="Calibri" pitchFamily="34" charset="0"/>
                <a:ea typeface="Calibri" pitchFamily="34" charset="-122"/>
                <a:cs typeface="Calibri" pitchFamily="34" charset="-120"/>
              </a:rPr>
              <a:t>Signed off by Mark — this is what's currently implemented</a:t>
            </a:r>
            <a:endParaRPr lang="en-US" sz="1300" dirty="0"/>
          </a:p>
        </p:txBody>
      </p:sp>
      <p:sp>
        <p:nvSpPr>
          <p:cNvPr id="4" name="Shape 2"/>
          <p:cNvSpPr/>
          <p:nvPr/>
        </p:nvSpPr>
        <p:spPr>
          <a:xfrm>
            <a:off x="457200" y="3063240"/>
            <a:ext cx="1600200" cy="1417320"/>
          </a:xfrm>
          <a:prstGeom prst="rect">
            <a:avLst/>
          </a:prstGeom>
          <a:solidFill>
            <a:srgbClr val="FFFFFF"/>
          </a:solidFill>
          <a:ln w="15875">
            <a:solidFill>
              <a:srgbClr val="222222"/>
            </a:solidFill>
            <a:prstDash val="solid"/>
          </a:ln>
        </p:spPr>
      </p:sp>
      <p:sp>
        <p:nvSpPr>
          <p:cNvPr id="5" name="Text 3"/>
          <p:cNvSpPr txBox="1"/>
          <p:nvPr/>
        </p:nvSpPr>
        <p:spPr>
          <a:xfrm>
            <a:off x="530352" y="3136392"/>
            <a:ext cx="1453896" cy="1271016"/>
          </a:xfrm>
          <a:prstGeom prst="rect">
            <a:avLst/>
          </a:prstGeom>
          <a:noFill/>
          <a:ln/>
        </p:spPr>
        <p:txBody>
          <a:bodyPr wrap="square" lIns="0" tIns="0" rIns="0" bIns="0" rtlCol="0" anchor="t"/>
          <a:lstStyle/>
          <a:p>
            <a:pPr algn="ctr" indent="0" marL="0">
              <a:buNone/>
            </a:pPr>
            <a:r>
              <a:rPr lang="en-US" sz="1300" b="1" dirty="0">
                <a:solidFill>
                  <a:srgbClr val="000000"/>
                </a:solidFill>
                <a:latin typeface="Calibri" pitchFamily="34" charset="0"/>
                <a:ea typeface="Calibri" pitchFamily="34" charset="-122"/>
                <a:cs typeface="Calibri" pitchFamily="34" charset="-120"/>
              </a:rPr>
              <a:t>Filter + PI</a:t>
            </a:r>
            <a:endParaRPr lang="en-US" sz="1300" dirty="0"/>
          </a:p>
          <a:p>
            <a:pPr algn="ctr" indent="0" marL="0">
              <a:buNone/>
            </a:pPr>
            <a:r>
              <a:rPr lang="en-US" sz="1000" dirty="0">
                <a:solidFill>
                  <a:srgbClr val="5A5A5A"/>
                </a:solidFill>
                <a:latin typeface="Calibri" pitchFamily="34" charset="0"/>
                <a:ea typeface="Calibri" pitchFamily="34" charset="-122"/>
                <a:cs typeface="Calibri" pitchFamily="34" charset="-120"/>
              </a:rPr>
              <a:t>Bandpass filter window; PI from the RAW window signal</a:t>
            </a:r>
            <a:endParaRPr lang="en-US" sz="1300" dirty="0"/>
          </a:p>
        </p:txBody>
      </p:sp>
      <p:sp>
        <p:nvSpPr>
          <p:cNvPr id="6" name="Text 4"/>
          <p:cNvSpPr txBox="1"/>
          <p:nvPr/>
        </p:nvSpPr>
        <p:spPr>
          <a:xfrm>
            <a:off x="2057400" y="3543300"/>
            <a:ext cx="274320" cy="457200"/>
          </a:xfrm>
          <a:prstGeom prst="rect">
            <a:avLst/>
          </a:prstGeom>
          <a:noFill/>
          <a:ln/>
        </p:spPr>
        <p:txBody>
          <a:bodyPr wrap="square" lIns="0" tIns="0" rIns="0" bIns="0" rtlCol="0" anchor="ctr"/>
          <a:lstStyle/>
          <a:p>
            <a:pPr algn="ctr" indent="0" marL="0">
              <a:buNone/>
            </a:pPr>
            <a:r>
              <a:rPr lang="en-US" sz="2000" b="1" dirty="0">
                <a:solidFill>
                  <a:srgbClr val="065A82"/>
                </a:solidFill>
                <a:latin typeface="Calibri" pitchFamily="34" charset="0"/>
                <a:ea typeface="Calibri" pitchFamily="34" charset="-122"/>
                <a:cs typeface="Calibri" pitchFamily="34" charset="-120"/>
              </a:rPr>
              <a:t>→</a:t>
            </a:r>
            <a:endParaRPr lang="en-US" sz="2000" dirty="0"/>
          </a:p>
        </p:txBody>
      </p:sp>
      <p:sp>
        <p:nvSpPr>
          <p:cNvPr id="7" name="Shape 5"/>
          <p:cNvSpPr/>
          <p:nvPr/>
        </p:nvSpPr>
        <p:spPr>
          <a:xfrm>
            <a:off x="2331720" y="3063240"/>
            <a:ext cx="1600200" cy="1417320"/>
          </a:xfrm>
          <a:prstGeom prst="rect">
            <a:avLst/>
          </a:prstGeom>
          <a:solidFill>
            <a:srgbClr val="FFFFFF"/>
          </a:solidFill>
          <a:ln w="15875">
            <a:solidFill>
              <a:srgbClr val="222222"/>
            </a:solidFill>
            <a:prstDash val="solid"/>
          </a:ln>
        </p:spPr>
      </p:sp>
      <p:sp>
        <p:nvSpPr>
          <p:cNvPr id="8" name="Text 6"/>
          <p:cNvSpPr txBox="1"/>
          <p:nvPr/>
        </p:nvSpPr>
        <p:spPr>
          <a:xfrm>
            <a:off x="2404872" y="3136392"/>
            <a:ext cx="1453896" cy="1271016"/>
          </a:xfrm>
          <a:prstGeom prst="rect">
            <a:avLst/>
          </a:prstGeom>
          <a:noFill/>
          <a:ln/>
        </p:spPr>
        <p:txBody>
          <a:bodyPr wrap="square" lIns="0" tIns="0" rIns="0" bIns="0" rtlCol="0" anchor="t"/>
          <a:lstStyle/>
          <a:p>
            <a:pPr algn="ctr" indent="0" marL="0">
              <a:buNone/>
            </a:pPr>
            <a:r>
              <a:rPr lang="en-US" sz="1300" b="1" dirty="0">
                <a:solidFill>
                  <a:srgbClr val="000000"/>
                </a:solidFill>
                <a:latin typeface="Calibri" pitchFamily="34" charset="0"/>
                <a:ea typeface="Calibri" pitchFamily="34" charset="-122"/>
                <a:cs typeface="Calibri" pitchFamily="34" charset="-120"/>
              </a:rPr>
              <a:t>Segment Beats</a:t>
            </a:r>
            <a:endParaRPr lang="en-US" sz="1300" dirty="0"/>
          </a:p>
          <a:p>
            <a:pPr algn="ctr" indent="0" marL="0">
              <a:buNone/>
            </a:pPr>
            <a:r>
              <a:rPr lang="en-US" sz="1000" dirty="0">
                <a:solidFill>
                  <a:srgbClr val="5A5A5A"/>
                </a:solidFill>
                <a:latin typeface="Calibri" pitchFamily="34" charset="0"/>
                <a:ea typeface="Calibri" pitchFamily="34" charset="-122"/>
                <a:cs typeface="Calibri" pitchFamily="34" charset="-120"/>
              </a:rPr>
              <a:t>Valley-to-valley detection on the filtered signal</a:t>
            </a:r>
            <a:endParaRPr lang="en-US" sz="1300" dirty="0"/>
          </a:p>
        </p:txBody>
      </p:sp>
      <p:sp>
        <p:nvSpPr>
          <p:cNvPr id="9" name="Text 7"/>
          <p:cNvSpPr txBox="1"/>
          <p:nvPr/>
        </p:nvSpPr>
        <p:spPr>
          <a:xfrm>
            <a:off x="3931920" y="3543300"/>
            <a:ext cx="274320" cy="457200"/>
          </a:xfrm>
          <a:prstGeom prst="rect">
            <a:avLst/>
          </a:prstGeom>
          <a:noFill/>
          <a:ln/>
        </p:spPr>
        <p:txBody>
          <a:bodyPr wrap="square" lIns="0" tIns="0" rIns="0" bIns="0" rtlCol="0" anchor="ctr"/>
          <a:lstStyle/>
          <a:p>
            <a:pPr algn="ctr" indent="0" marL="0">
              <a:buNone/>
            </a:pPr>
            <a:r>
              <a:rPr lang="en-US" sz="2000" b="1" dirty="0">
                <a:solidFill>
                  <a:srgbClr val="065A82"/>
                </a:solidFill>
                <a:latin typeface="Calibri" pitchFamily="34" charset="0"/>
                <a:ea typeface="Calibri" pitchFamily="34" charset="-122"/>
                <a:cs typeface="Calibri" pitchFamily="34" charset="-120"/>
              </a:rPr>
              <a:t>→</a:t>
            </a:r>
            <a:endParaRPr lang="en-US" sz="2000" dirty="0"/>
          </a:p>
        </p:txBody>
      </p:sp>
      <p:sp>
        <p:nvSpPr>
          <p:cNvPr id="10" name="Shape 8"/>
          <p:cNvSpPr/>
          <p:nvPr/>
        </p:nvSpPr>
        <p:spPr>
          <a:xfrm>
            <a:off x="4206240" y="3063240"/>
            <a:ext cx="1600200" cy="1417320"/>
          </a:xfrm>
          <a:prstGeom prst="rect">
            <a:avLst/>
          </a:prstGeom>
          <a:solidFill>
            <a:srgbClr val="FFFFFF"/>
          </a:solidFill>
          <a:ln w="15875">
            <a:solidFill>
              <a:srgbClr val="222222"/>
            </a:solidFill>
            <a:prstDash val="solid"/>
          </a:ln>
        </p:spPr>
      </p:sp>
      <p:sp>
        <p:nvSpPr>
          <p:cNvPr id="11" name="Text 9"/>
          <p:cNvSpPr txBox="1"/>
          <p:nvPr/>
        </p:nvSpPr>
        <p:spPr>
          <a:xfrm>
            <a:off x="4279392" y="3136392"/>
            <a:ext cx="1453896" cy="1271016"/>
          </a:xfrm>
          <a:prstGeom prst="rect">
            <a:avLst/>
          </a:prstGeom>
          <a:noFill/>
          <a:ln/>
        </p:spPr>
        <p:txBody>
          <a:bodyPr wrap="square" lIns="0" tIns="0" rIns="0" bIns="0" rtlCol="0" anchor="t"/>
          <a:lstStyle/>
          <a:p>
            <a:pPr algn="ctr" indent="0" marL="0">
              <a:buNone/>
            </a:pPr>
            <a:r>
              <a:rPr lang="en-US" sz="1300" b="1" dirty="0">
                <a:solidFill>
                  <a:srgbClr val="000000"/>
                </a:solidFill>
                <a:latin typeface="Calibri" pitchFamily="34" charset="0"/>
                <a:ea typeface="Calibri" pitchFamily="34" charset="-122"/>
                <a:cs typeface="Calibri" pitchFamily="34" charset="-120"/>
              </a:rPr>
              <a:t>Normalize Beat</a:t>
            </a:r>
            <a:endParaRPr lang="en-US" sz="1300" dirty="0"/>
          </a:p>
          <a:p>
            <a:pPr algn="ctr" indent="0" marL="0">
              <a:buNone/>
            </a:pPr>
            <a:r>
              <a:rPr lang="en-US" sz="1000" dirty="0">
                <a:solidFill>
                  <a:srgbClr val="5A5A5A"/>
                </a:solidFill>
                <a:latin typeface="Calibri" pitchFamily="34" charset="0"/>
                <a:ea typeface="Calibri" pitchFamily="34" charset="-122"/>
                <a:cs typeface="Calibri" pitchFamily="34" charset="-120"/>
              </a:rPr>
              <a:t>Per-beat, 0–1 scale</a:t>
            </a:r>
            <a:endParaRPr lang="en-US" sz="1300" dirty="0"/>
          </a:p>
        </p:txBody>
      </p:sp>
      <p:sp>
        <p:nvSpPr>
          <p:cNvPr id="12" name="Text 10"/>
          <p:cNvSpPr txBox="1"/>
          <p:nvPr/>
        </p:nvSpPr>
        <p:spPr>
          <a:xfrm>
            <a:off x="5806440" y="3543300"/>
            <a:ext cx="274320" cy="457200"/>
          </a:xfrm>
          <a:prstGeom prst="rect">
            <a:avLst/>
          </a:prstGeom>
          <a:noFill/>
          <a:ln/>
        </p:spPr>
        <p:txBody>
          <a:bodyPr wrap="square" lIns="0" tIns="0" rIns="0" bIns="0" rtlCol="0" anchor="ctr"/>
          <a:lstStyle/>
          <a:p>
            <a:pPr algn="ctr" indent="0" marL="0">
              <a:buNone/>
            </a:pPr>
            <a:r>
              <a:rPr lang="en-US" sz="2000" b="1" dirty="0">
                <a:solidFill>
                  <a:srgbClr val="065A82"/>
                </a:solidFill>
                <a:latin typeface="Calibri" pitchFamily="34" charset="0"/>
                <a:ea typeface="Calibri" pitchFamily="34" charset="-122"/>
                <a:cs typeface="Calibri" pitchFamily="34" charset="-120"/>
              </a:rPr>
              <a:t>→</a:t>
            </a:r>
            <a:endParaRPr lang="en-US" sz="2000" dirty="0"/>
          </a:p>
        </p:txBody>
      </p:sp>
      <p:sp>
        <p:nvSpPr>
          <p:cNvPr id="13" name="Shape 11"/>
          <p:cNvSpPr/>
          <p:nvPr/>
        </p:nvSpPr>
        <p:spPr>
          <a:xfrm>
            <a:off x="6080760" y="3063240"/>
            <a:ext cx="1600200" cy="1417320"/>
          </a:xfrm>
          <a:prstGeom prst="rect">
            <a:avLst/>
          </a:prstGeom>
          <a:solidFill>
            <a:srgbClr val="FFFFFF"/>
          </a:solidFill>
          <a:ln w="15875">
            <a:solidFill>
              <a:srgbClr val="222222"/>
            </a:solidFill>
            <a:prstDash val="solid"/>
          </a:ln>
        </p:spPr>
      </p:sp>
      <p:sp>
        <p:nvSpPr>
          <p:cNvPr id="14" name="Text 12"/>
          <p:cNvSpPr txBox="1"/>
          <p:nvPr/>
        </p:nvSpPr>
        <p:spPr>
          <a:xfrm>
            <a:off x="6153912" y="3136392"/>
            <a:ext cx="1453896" cy="1271016"/>
          </a:xfrm>
          <a:prstGeom prst="rect">
            <a:avLst/>
          </a:prstGeom>
          <a:noFill/>
          <a:ln/>
        </p:spPr>
        <p:txBody>
          <a:bodyPr wrap="square" lIns="0" tIns="0" rIns="0" bIns="0" rtlCol="0" anchor="t"/>
          <a:lstStyle/>
          <a:p>
            <a:pPr algn="ctr" indent="0" marL="0">
              <a:buNone/>
            </a:pPr>
            <a:r>
              <a:rPr lang="en-US" sz="1300" b="1" dirty="0">
                <a:solidFill>
                  <a:srgbClr val="000000"/>
                </a:solidFill>
                <a:latin typeface="Calibri" pitchFamily="34" charset="0"/>
                <a:ea typeface="Calibri" pitchFamily="34" charset="-122"/>
                <a:cs typeface="Calibri" pitchFamily="34" charset="-120"/>
              </a:rPr>
              <a:t>Compare to Template</a:t>
            </a:r>
            <a:endParaRPr lang="en-US" sz="1300" dirty="0"/>
          </a:p>
          <a:p>
            <a:pPr algn="ctr" indent="0" marL="0">
              <a:buNone/>
            </a:pPr>
            <a:r>
              <a:rPr lang="en-US" sz="1000" dirty="0">
                <a:solidFill>
                  <a:srgbClr val="5A5A5A"/>
                </a:solidFill>
                <a:latin typeface="Calibri" pitchFamily="34" charset="0"/>
                <a:ea typeface="Calibri" pitchFamily="34" charset="-122"/>
                <a:cs typeface="Calibri" pitchFamily="34" charset="-120"/>
              </a:rPr>
              <a:t>DTW, correlation, MAD, clipping</a:t>
            </a:r>
            <a:endParaRPr lang="en-US" sz="1300" dirty="0"/>
          </a:p>
        </p:txBody>
      </p:sp>
      <p:sp>
        <p:nvSpPr>
          <p:cNvPr id="15" name="Text 13"/>
          <p:cNvSpPr txBox="1"/>
          <p:nvPr/>
        </p:nvSpPr>
        <p:spPr>
          <a:xfrm>
            <a:off x="7680960" y="3543300"/>
            <a:ext cx="274320" cy="457200"/>
          </a:xfrm>
          <a:prstGeom prst="rect">
            <a:avLst/>
          </a:prstGeom>
          <a:noFill/>
          <a:ln/>
        </p:spPr>
        <p:txBody>
          <a:bodyPr wrap="square" lIns="0" tIns="0" rIns="0" bIns="0" rtlCol="0" anchor="ctr"/>
          <a:lstStyle/>
          <a:p>
            <a:pPr algn="ctr" indent="0" marL="0">
              <a:buNone/>
            </a:pPr>
            <a:r>
              <a:rPr lang="en-US" sz="2000" b="1" dirty="0">
                <a:solidFill>
                  <a:srgbClr val="065A82"/>
                </a:solidFill>
                <a:latin typeface="Calibri" pitchFamily="34" charset="0"/>
                <a:ea typeface="Calibri" pitchFamily="34" charset="-122"/>
                <a:cs typeface="Calibri" pitchFamily="34" charset="-120"/>
              </a:rPr>
              <a:t>→</a:t>
            </a:r>
            <a:endParaRPr lang="en-US" sz="2000" dirty="0"/>
          </a:p>
        </p:txBody>
      </p:sp>
      <p:sp>
        <p:nvSpPr>
          <p:cNvPr id="16" name="Shape 14"/>
          <p:cNvSpPr/>
          <p:nvPr/>
        </p:nvSpPr>
        <p:spPr>
          <a:xfrm>
            <a:off x="7955280" y="3063240"/>
            <a:ext cx="1600200" cy="1417320"/>
          </a:xfrm>
          <a:prstGeom prst="rect">
            <a:avLst/>
          </a:prstGeom>
          <a:solidFill>
            <a:srgbClr val="FFFFFF"/>
          </a:solidFill>
          <a:ln w="15875">
            <a:solidFill>
              <a:srgbClr val="222222"/>
            </a:solidFill>
            <a:prstDash val="solid"/>
          </a:ln>
        </p:spPr>
      </p:sp>
      <p:sp>
        <p:nvSpPr>
          <p:cNvPr id="17" name="Text 15"/>
          <p:cNvSpPr txBox="1"/>
          <p:nvPr/>
        </p:nvSpPr>
        <p:spPr>
          <a:xfrm>
            <a:off x="8028432" y="3136392"/>
            <a:ext cx="1453896" cy="1271016"/>
          </a:xfrm>
          <a:prstGeom prst="rect">
            <a:avLst/>
          </a:prstGeom>
          <a:noFill/>
          <a:ln/>
        </p:spPr>
        <p:txBody>
          <a:bodyPr wrap="square" lIns="0" tIns="0" rIns="0" bIns="0" rtlCol="0" anchor="t"/>
          <a:lstStyle/>
          <a:p>
            <a:pPr algn="ctr" indent="0" marL="0">
              <a:buNone/>
            </a:pPr>
            <a:r>
              <a:rPr lang="en-US" sz="1300" b="1" dirty="0">
                <a:solidFill>
                  <a:srgbClr val="000000"/>
                </a:solidFill>
                <a:latin typeface="Calibri" pitchFamily="34" charset="0"/>
                <a:ea typeface="Calibri" pitchFamily="34" charset="-122"/>
                <a:cs typeface="Calibri" pitchFamily="34" charset="-120"/>
              </a:rPr>
              <a:t>Classify Beat → Window</a:t>
            </a:r>
            <a:endParaRPr lang="en-US" sz="1300" dirty="0"/>
          </a:p>
          <a:p>
            <a:pPr algn="ctr" indent="0" marL="0">
              <a:buNone/>
            </a:pPr>
            <a:r>
              <a:rPr lang="en-US" sz="1000" dirty="0">
                <a:solidFill>
                  <a:srgbClr val="5A5A5A"/>
                </a:solidFill>
                <a:latin typeface="Calibri" pitchFamily="34" charset="0"/>
                <a:ea typeface="Calibri" pitchFamily="34" charset="-122"/>
                <a:cs typeface="Calibri" pitchFamily="34" charset="-120"/>
              </a:rPr>
              <a:t>Window is bad if &gt;30% of beats are bad</a:t>
            </a:r>
            <a:endParaRPr lang="en-US" sz="1300" dirty="0"/>
          </a:p>
        </p:txBody>
      </p:sp>
      <p:sp>
        <p:nvSpPr>
          <p:cNvPr id="18" name="Text 16"/>
          <p:cNvSpPr txBox="1"/>
          <p:nvPr/>
        </p:nvSpPr>
        <p:spPr>
          <a:xfrm>
            <a:off x="9555480" y="3543300"/>
            <a:ext cx="274320" cy="457200"/>
          </a:xfrm>
          <a:prstGeom prst="rect">
            <a:avLst/>
          </a:prstGeom>
          <a:noFill/>
          <a:ln/>
        </p:spPr>
        <p:txBody>
          <a:bodyPr wrap="square" lIns="0" tIns="0" rIns="0" bIns="0" rtlCol="0" anchor="ctr"/>
          <a:lstStyle/>
          <a:p>
            <a:pPr algn="ctr" indent="0" marL="0">
              <a:buNone/>
            </a:pPr>
            <a:r>
              <a:rPr lang="en-US" sz="2000" b="1" dirty="0">
                <a:solidFill>
                  <a:srgbClr val="065A82"/>
                </a:solidFill>
                <a:latin typeface="Calibri" pitchFamily="34" charset="0"/>
                <a:ea typeface="Calibri" pitchFamily="34" charset="-122"/>
                <a:cs typeface="Calibri" pitchFamily="34" charset="-120"/>
              </a:rPr>
              <a:t>→</a:t>
            </a:r>
            <a:endParaRPr lang="en-US" sz="2000" dirty="0"/>
          </a:p>
        </p:txBody>
      </p:sp>
      <p:sp>
        <p:nvSpPr>
          <p:cNvPr id="19" name="Shape 17"/>
          <p:cNvSpPr/>
          <p:nvPr/>
        </p:nvSpPr>
        <p:spPr>
          <a:xfrm>
            <a:off x="9829800" y="3063240"/>
            <a:ext cx="1600200" cy="1417320"/>
          </a:xfrm>
          <a:prstGeom prst="rect">
            <a:avLst/>
          </a:prstGeom>
          <a:solidFill>
            <a:srgbClr val="FFFFFF"/>
          </a:solidFill>
          <a:ln w="15875">
            <a:solidFill>
              <a:srgbClr val="222222"/>
            </a:solidFill>
            <a:prstDash val="solid"/>
          </a:ln>
        </p:spPr>
      </p:sp>
      <p:sp>
        <p:nvSpPr>
          <p:cNvPr id="20" name="Text 18"/>
          <p:cNvSpPr txBox="1"/>
          <p:nvPr/>
        </p:nvSpPr>
        <p:spPr>
          <a:xfrm>
            <a:off x="9902952" y="3136392"/>
            <a:ext cx="1453896" cy="1271016"/>
          </a:xfrm>
          <a:prstGeom prst="rect">
            <a:avLst/>
          </a:prstGeom>
          <a:noFill/>
          <a:ln/>
        </p:spPr>
        <p:txBody>
          <a:bodyPr wrap="square" lIns="0" tIns="0" rIns="0" bIns="0" rtlCol="0" anchor="t"/>
          <a:lstStyle/>
          <a:p>
            <a:pPr algn="ctr" indent="0" marL="0">
              <a:buNone/>
            </a:pPr>
            <a:r>
              <a:rPr lang="en-US" sz="1300" b="1" dirty="0">
                <a:solidFill>
                  <a:srgbClr val="000000"/>
                </a:solidFill>
                <a:latin typeface="Calibri" pitchFamily="34" charset="0"/>
                <a:ea typeface="Calibri" pitchFamily="34" charset="-122"/>
                <a:cs typeface="Calibri" pitchFamily="34" charset="-120"/>
              </a:rPr>
              <a:t>Export + Summarize</a:t>
            </a:r>
            <a:endParaRPr lang="en-US" sz="1300" dirty="0"/>
          </a:p>
          <a:p>
            <a:pPr algn="ctr" indent="0" marL="0">
              <a:buNone/>
            </a:pPr>
            <a:r>
              <a:rPr lang="en-US" sz="1000" dirty="0">
                <a:solidFill>
                  <a:srgbClr val="5A5A5A"/>
                </a:solidFill>
                <a:latin typeface="Calibri" pitchFamily="34" charset="0"/>
                <a:ea typeface="Calibri" pitchFamily="34" charset="-122"/>
                <a:cs typeface="Calibri" pitchFamily="34" charset="-120"/>
              </a:rPr>
              <a:t>CSV per window → %Good / %Bad windows</a:t>
            </a:r>
            <a:endParaRPr lang="en-US" sz="1300" dirty="0"/>
          </a:p>
        </p:txBody>
      </p:sp>
      <p:sp>
        <p:nvSpPr>
          <p:cNvPr id="21" name="Text 19"/>
          <p:cNvSpPr txBox="1"/>
          <p:nvPr/>
        </p:nvSpPr>
        <p:spPr>
          <a:xfrm>
            <a:off x="457200" y="2377440"/>
            <a:ext cx="11247120" cy="457200"/>
          </a:xfrm>
          <a:prstGeom prst="rect">
            <a:avLst/>
          </a:prstGeom>
          <a:noFill/>
          <a:ln/>
        </p:spPr>
        <p:txBody>
          <a:bodyPr wrap="square" lIns="0" tIns="0" rIns="0" bIns="0" rtlCol="0" anchor="ctr"/>
          <a:lstStyle/>
          <a:p>
            <a:pPr algn="l" indent="0" marL="0">
              <a:buNone/>
            </a:pPr>
            <a:r>
              <a:rPr lang="en-US" sz="1300" dirty="0">
                <a:solidFill>
                  <a:srgbClr val="5A5A5A"/>
                </a:solidFill>
                <a:latin typeface="Calibri" pitchFamily="34" charset="0"/>
                <a:ea typeface="Calibri" pitchFamily="34" charset="-122"/>
                <a:cs typeface="Calibri" pitchFamily="34" charset="-120"/>
              </a:rPr>
              <a:t>Raw PPG → 10-second windows → (each window goes through the steps below)</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274320"/>
            <a:ext cx="11247120" cy="685800"/>
          </a:xfrm>
          <a:prstGeom prst="rect">
            <a:avLst/>
          </a:prstGeom>
          <a:noFill/>
          <a:ln/>
        </p:spPr>
        <p:txBody>
          <a:bodyPr wrap="square" lIns="0" tIns="0" rIns="0" bIns="0" rtlCol="0" anchor="ctr"/>
          <a:lstStyle/>
          <a:p>
            <a:pPr algn="l" indent="0" marL="0">
              <a:buNone/>
            </a:pPr>
            <a:r>
              <a:rPr lang="en-US" sz="3000" b="1" dirty="0">
                <a:solidFill>
                  <a:srgbClr val="065A82"/>
                </a:solidFill>
                <a:latin typeface="Cambria" pitchFamily="34" charset="0"/>
                <a:ea typeface="Cambria" pitchFamily="34" charset="-122"/>
                <a:cs typeface="Cambria" pitchFamily="34" charset="-120"/>
              </a:rPr>
              <a:t>Implementation + Results</a:t>
            </a:r>
            <a:endParaRPr lang="en-US" sz="3000" dirty="0"/>
          </a:p>
        </p:txBody>
      </p:sp>
      <p:sp>
        <p:nvSpPr>
          <p:cNvPr id="3" name="Text 1"/>
          <p:cNvSpPr txBox="1"/>
          <p:nvPr/>
        </p:nvSpPr>
        <p:spPr>
          <a:xfrm>
            <a:off x="457200" y="1188720"/>
            <a:ext cx="6675120" cy="731520"/>
          </a:xfrm>
          <a:prstGeom prst="rect">
            <a:avLst/>
          </a:prstGeom>
          <a:noFill/>
          <a:ln/>
        </p:spPr>
        <p:txBody>
          <a:bodyPr wrap="square" lIns="0" tIns="0" rIns="0" bIns="0" rtlCol="0" anchor="t"/>
          <a:lstStyle/>
          <a:p>
            <a:pPr algn="l" indent="0" marL="0">
              <a:buNone/>
            </a:pPr>
            <a:r>
              <a:rPr lang="en-US" sz="1500" dirty="0">
                <a:solidFill>
                  <a:srgbClr val="222222"/>
                </a:solidFill>
                <a:latin typeface="Calibri" pitchFamily="34" charset="0"/>
                <a:ea typeface="Calibri" pitchFamily="34" charset="-122"/>
                <a:cs typeface="Calibri" pitchFamily="34" charset="-120"/>
              </a:rPr>
              <a:t>Implemented and running across Day 2 / 3 / 4 recordings.</a:t>
            </a:r>
            <a:endParaRPr lang="en-US" sz="1500" dirty="0"/>
          </a:p>
        </p:txBody>
      </p:sp>
      <p:sp>
        <p:nvSpPr>
          <p:cNvPr id="4" name="Shape 2"/>
          <p:cNvSpPr/>
          <p:nvPr/>
        </p:nvSpPr>
        <p:spPr>
          <a:xfrm>
            <a:off x="457200" y="2103120"/>
            <a:ext cx="3200400" cy="1554480"/>
          </a:xfrm>
          <a:prstGeom prst="roundRect">
            <a:avLst>
              <a:gd name="adj" fmla="val 4706"/>
            </a:avLst>
          </a:prstGeom>
          <a:solidFill>
            <a:srgbClr val="EAF3F8"/>
          </a:solidFill>
          <a:ln w="12700">
            <a:solidFill>
              <a:srgbClr val="1C7293"/>
            </a:solidFill>
            <a:prstDash val="solid"/>
          </a:ln>
        </p:spPr>
      </p:sp>
      <p:sp>
        <p:nvSpPr>
          <p:cNvPr id="5" name="Text 3"/>
          <p:cNvSpPr txBox="1"/>
          <p:nvPr/>
        </p:nvSpPr>
        <p:spPr>
          <a:xfrm>
            <a:off x="457200" y="2194560"/>
            <a:ext cx="3200400" cy="1371600"/>
          </a:xfrm>
          <a:prstGeom prst="rect">
            <a:avLst/>
          </a:prstGeom>
          <a:noFill/>
          <a:ln/>
        </p:spPr>
        <p:txBody>
          <a:bodyPr wrap="square" lIns="0" tIns="0" rIns="0" bIns="0" rtlCol="0" anchor="ctr"/>
          <a:lstStyle/>
          <a:p>
            <a:pPr algn="ctr" indent="0" marL="0">
              <a:buNone/>
            </a:pPr>
            <a:r>
              <a:rPr lang="en-US" sz="3800" b="1" dirty="0">
                <a:solidFill>
                  <a:srgbClr val="065A82"/>
                </a:solidFill>
                <a:latin typeface="Calibri" pitchFamily="34" charset="0"/>
                <a:ea typeface="Calibri" pitchFamily="34" charset="-122"/>
                <a:cs typeface="Calibri" pitchFamily="34" charset="-120"/>
              </a:rPr>
              <a:t>33.12%</a:t>
            </a:r>
            <a:endParaRPr lang="en-US" sz="3800" dirty="0"/>
          </a:p>
          <a:p>
            <a:pPr algn="ctr" indent="0" marL="0">
              <a:buNone/>
            </a:pPr>
            <a:r>
              <a:rPr lang="en-US" sz="1300" dirty="0">
                <a:solidFill>
                  <a:srgbClr val="5A5A5A"/>
                </a:solidFill>
                <a:latin typeface="Calibri" pitchFamily="34" charset="0"/>
                <a:ea typeface="Calibri" pitchFamily="34" charset="-122"/>
                <a:cs typeface="Calibri" pitchFamily="34" charset="-120"/>
              </a:rPr>
              <a:t>Good Windows</a:t>
            </a:r>
            <a:endParaRPr lang="en-US" sz="3800" dirty="0"/>
          </a:p>
        </p:txBody>
      </p:sp>
      <p:sp>
        <p:nvSpPr>
          <p:cNvPr id="6" name="Shape 4"/>
          <p:cNvSpPr/>
          <p:nvPr/>
        </p:nvSpPr>
        <p:spPr>
          <a:xfrm>
            <a:off x="3931920" y="2103120"/>
            <a:ext cx="3200400" cy="1554480"/>
          </a:xfrm>
          <a:prstGeom prst="roundRect">
            <a:avLst>
              <a:gd name="adj" fmla="val 4706"/>
            </a:avLst>
          </a:prstGeom>
          <a:solidFill>
            <a:srgbClr val="FBEAEA"/>
          </a:solidFill>
          <a:ln w="12700">
            <a:solidFill>
              <a:srgbClr val="A33D3D"/>
            </a:solidFill>
            <a:prstDash val="solid"/>
          </a:ln>
        </p:spPr>
      </p:sp>
      <p:sp>
        <p:nvSpPr>
          <p:cNvPr id="7" name="Text 5"/>
          <p:cNvSpPr txBox="1"/>
          <p:nvPr/>
        </p:nvSpPr>
        <p:spPr>
          <a:xfrm>
            <a:off x="3931920" y="2194560"/>
            <a:ext cx="3200400" cy="1371600"/>
          </a:xfrm>
          <a:prstGeom prst="rect">
            <a:avLst/>
          </a:prstGeom>
          <a:noFill/>
          <a:ln/>
        </p:spPr>
        <p:txBody>
          <a:bodyPr wrap="square" lIns="0" tIns="0" rIns="0" bIns="0" rtlCol="0" anchor="ctr"/>
          <a:lstStyle/>
          <a:p>
            <a:pPr algn="ctr" indent="0" marL="0">
              <a:buNone/>
            </a:pPr>
            <a:r>
              <a:rPr lang="en-US" sz="3800" b="1" dirty="0">
                <a:solidFill>
                  <a:srgbClr val="A33D3D"/>
                </a:solidFill>
                <a:latin typeface="Calibri" pitchFamily="34" charset="0"/>
                <a:ea typeface="Calibri" pitchFamily="34" charset="-122"/>
                <a:cs typeface="Calibri" pitchFamily="34" charset="-120"/>
              </a:rPr>
              <a:t>66.88%</a:t>
            </a:r>
            <a:endParaRPr lang="en-US" sz="3800" dirty="0"/>
          </a:p>
          <a:p>
            <a:pPr algn="ctr" indent="0" marL="0">
              <a:buNone/>
            </a:pPr>
            <a:r>
              <a:rPr lang="en-US" sz="1300" dirty="0">
                <a:solidFill>
                  <a:srgbClr val="5A5A5A"/>
                </a:solidFill>
                <a:latin typeface="Calibri" pitchFamily="34" charset="0"/>
                <a:ea typeface="Calibri" pitchFamily="34" charset="-122"/>
                <a:cs typeface="Calibri" pitchFamily="34" charset="-120"/>
              </a:rPr>
              <a:t>Bad Windows</a:t>
            </a:r>
            <a:endParaRPr lang="en-US" sz="3800" dirty="0"/>
          </a:p>
        </p:txBody>
      </p:sp>
      <p:sp>
        <p:nvSpPr>
          <p:cNvPr id="8" name="Text 6"/>
          <p:cNvSpPr txBox="1"/>
          <p:nvPr/>
        </p:nvSpPr>
        <p:spPr>
          <a:xfrm>
            <a:off x="457200" y="3931920"/>
            <a:ext cx="6675120" cy="1097280"/>
          </a:xfrm>
          <a:prstGeom prst="rect">
            <a:avLst/>
          </a:prstGeom>
          <a:noFill/>
          <a:ln/>
        </p:spPr>
        <p:txBody>
          <a:bodyPr wrap="square" lIns="0" tIns="0" rIns="0" bIns="0" rtlCol="0" anchor="t"/>
          <a:lstStyle/>
          <a:p>
            <a:pPr algn="l" indent="0" marL="0">
              <a:buNone/>
            </a:pPr>
            <a:r>
              <a:rPr lang="en-US" sz="1500" dirty="0">
                <a:solidFill>
                  <a:srgbClr val="222222"/>
                </a:solidFill>
                <a:latin typeface="Calibri" pitchFamily="34" charset="0"/>
                <a:ea typeface="Calibri" pitchFamily="34" charset="-122"/>
                <a:cs typeface="Calibri" pitchFamily="34" charset="-120"/>
              </a:rPr>
              <a:t>Fully reproducible — reran it and got the exact same split, so the pipeline itself is deterministic (nothing random going on).</a:t>
            </a:r>
            <a:endParaRPr lang="en-US" sz="1500" dirty="0"/>
          </a:p>
        </p:txBody>
      </p:sp>
      <p:sp>
        <p:nvSpPr>
          <p:cNvPr id="9" name="Shape 7"/>
          <p:cNvSpPr/>
          <p:nvPr/>
        </p:nvSpPr>
        <p:spPr>
          <a:xfrm>
            <a:off x="7589520" y="1188720"/>
            <a:ext cx="4114800" cy="5212080"/>
          </a:xfrm>
          <a:prstGeom prst="roundRect">
            <a:avLst>
              <a:gd name="adj" fmla="val 2667"/>
            </a:avLst>
          </a:prstGeom>
          <a:solidFill>
            <a:srgbClr val="F2F2F2"/>
          </a:solidFill>
          <a:ln w="19050">
            <a:solidFill>
              <a:srgbClr val="9AA0A6"/>
            </a:solidFill>
            <a:prstDash val="dash"/>
          </a:ln>
        </p:spPr>
      </p:sp>
      <p:sp>
        <p:nvSpPr>
          <p:cNvPr id="10" name="Text 8"/>
          <p:cNvSpPr txBox="1"/>
          <p:nvPr/>
        </p:nvSpPr>
        <p:spPr>
          <a:xfrm>
            <a:off x="7589520" y="1554480"/>
            <a:ext cx="4114800" cy="822960"/>
          </a:xfrm>
          <a:prstGeom prst="rect">
            <a:avLst/>
          </a:prstGeom>
          <a:noFill/>
          <a:ln/>
        </p:spPr>
        <p:txBody>
          <a:bodyPr wrap="square" lIns="0" tIns="0" rIns="0" bIns="0" rtlCol="0" anchor="ctr"/>
          <a:lstStyle/>
          <a:p>
            <a:pPr algn="ctr" indent="0" marL="0">
              <a:buNone/>
            </a:pPr>
            <a:r>
              <a:rPr lang="en-US" sz="3200" b="1" dirty="0">
                <a:solidFill>
                  <a:srgbClr val="9AA0A6"/>
                </a:solidFill>
                <a:latin typeface="Calibri" pitchFamily="34" charset="0"/>
                <a:ea typeface="Calibri" pitchFamily="34" charset="-122"/>
                <a:cs typeface="Calibri" pitchFamily="34" charset="-120"/>
              </a:rPr>
              <a:t>&lt;/&gt;</a:t>
            </a:r>
            <a:endParaRPr lang="en-US" sz="3200" dirty="0"/>
          </a:p>
        </p:txBody>
      </p:sp>
      <p:sp>
        <p:nvSpPr>
          <p:cNvPr id="11" name="Text 9"/>
          <p:cNvSpPr txBox="1"/>
          <p:nvPr/>
        </p:nvSpPr>
        <p:spPr>
          <a:xfrm>
            <a:off x="7589520" y="2468880"/>
            <a:ext cx="4114800" cy="457200"/>
          </a:xfrm>
          <a:prstGeom prst="rect">
            <a:avLst/>
          </a:prstGeom>
          <a:noFill/>
          <a:ln/>
        </p:spPr>
        <p:txBody>
          <a:bodyPr wrap="square" lIns="0" tIns="0" rIns="0" bIns="0" rtlCol="0" anchor="ctr"/>
          <a:lstStyle/>
          <a:p>
            <a:pPr algn="ctr" indent="0" marL="0">
              <a:buNone/>
            </a:pPr>
            <a:r>
              <a:rPr lang="en-US" sz="1600" b="1" dirty="0">
                <a:solidFill>
                  <a:srgbClr val="5A5A5A"/>
                </a:solidFill>
                <a:latin typeface="Calibri" pitchFamily="34" charset="0"/>
                <a:ea typeface="Calibri" pitchFamily="34" charset="-122"/>
                <a:cs typeface="Calibri" pitchFamily="34" charset="-120"/>
              </a:rPr>
              <a:t>Code snippet</a:t>
            </a:r>
            <a:endParaRPr lang="en-US" sz="1600" dirty="0"/>
          </a:p>
        </p:txBody>
      </p:sp>
      <p:sp>
        <p:nvSpPr>
          <p:cNvPr id="12" name="Text 10"/>
          <p:cNvSpPr txBox="1"/>
          <p:nvPr/>
        </p:nvSpPr>
        <p:spPr>
          <a:xfrm>
            <a:off x="7863840" y="2971800"/>
            <a:ext cx="3566160" cy="3200400"/>
          </a:xfrm>
          <a:prstGeom prst="rect">
            <a:avLst/>
          </a:prstGeom>
          <a:noFill/>
          <a:ln/>
        </p:spPr>
        <p:txBody>
          <a:bodyPr wrap="square" lIns="0" tIns="0" rIns="0" bIns="0" rtlCol="0" anchor="t"/>
          <a:lstStyle/>
          <a:p>
            <a:pPr algn="ctr" indent="0" marL="0">
              <a:buNone/>
            </a:pPr>
            <a:r>
              <a:rPr lang="en-US" sz="1200" i="1" dirty="0">
                <a:solidFill>
                  <a:srgbClr val="5A5A5A"/>
                </a:solidFill>
                <a:latin typeface="Calibri" pitchFamily="34" charset="0"/>
                <a:ea typeface="Calibri" pitchFamily="34" charset="-122"/>
                <a:cs typeface="Calibri" pitchFamily="34" charset="-120"/>
              </a:rPr>
              <a:t>e.g. run_beat_comparison() / classify_beat()</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57200" y="274320"/>
            <a:ext cx="11247120" cy="685800"/>
          </a:xfrm>
          <a:prstGeom prst="rect">
            <a:avLst/>
          </a:prstGeom>
          <a:noFill/>
          <a:ln/>
        </p:spPr>
        <p:txBody>
          <a:bodyPr wrap="square" lIns="0" tIns="0" rIns="0" bIns="0" rtlCol="0" anchor="ctr"/>
          <a:lstStyle/>
          <a:p>
            <a:pPr algn="l" indent="0" marL="0">
              <a:buNone/>
            </a:pPr>
            <a:r>
              <a:rPr lang="en-US" sz="3000" b="1" dirty="0">
                <a:solidFill>
                  <a:srgbClr val="065A82"/>
                </a:solidFill>
                <a:latin typeface="Cambria" pitchFamily="34" charset="0"/>
                <a:ea typeface="Cambria" pitchFamily="34" charset="-122"/>
                <a:cs typeface="Cambria" pitchFamily="34" charset="-120"/>
              </a:rPr>
              <a:t>Open Issue: PI Outliers</a:t>
            </a:r>
            <a:endParaRPr lang="en-US" sz="3000" dirty="0"/>
          </a:p>
        </p:txBody>
      </p:sp>
      <p:sp>
        <p:nvSpPr>
          <p:cNvPr id="3" name="Text 1"/>
          <p:cNvSpPr txBox="1"/>
          <p:nvPr/>
        </p:nvSpPr>
        <p:spPr>
          <a:xfrm>
            <a:off x="457200" y="1188720"/>
            <a:ext cx="6675120" cy="5212080"/>
          </a:xfrm>
          <a:prstGeom prst="rect">
            <a:avLst/>
          </a:prstGeom>
          <a:noFill/>
          <a:ln/>
        </p:spPr>
        <p:txBody>
          <a:bodyPr wrap="square" lIns="0" tIns="0" rIns="0" bIns="0" rtlCol="0" anchor="t"/>
          <a:lstStyle/>
          <a:p>
            <a:pPr algn="l" indent="0" marL="0">
              <a:spcAft>
                <a:spcPts val="1000"/>
              </a:spcAft>
              <a:buNone/>
            </a:pPr>
            <a:r>
              <a:rPr lang="en-US" sz="1500" dirty="0">
                <a:solidFill>
                  <a:srgbClr val="222222"/>
                </a:solidFill>
                <a:latin typeface="Calibri" pitchFamily="34" charset="0"/>
                <a:ea typeface="Calibri" pitchFamily="34" charset="-122"/>
                <a:cs typeface="Calibri" pitchFamily="34" charset="-120"/>
              </a:rPr>
              <a:t>About 116 windows have extreme PI values.</a:t>
            </a:r>
            <a:endParaRPr lang="en-US" sz="1500" dirty="0"/>
          </a:p>
          <a:p>
            <a:pPr algn="l" indent="0" marL="0">
              <a:spcAft>
                <a:spcPts val="1400"/>
              </a:spcAft>
              <a:buNone/>
            </a:pPr>
            <a:r>
              <a:rPr lang="en-US" sz="1500" dirty="0">
                <a:solidFill>
                  <a:srgbClr val="222222"/>
                </a:solidFill>
                <a:latin typeface="Calibri" pitchFamily="34" charset="0"/>
                <a:ea typeface="Calibri" pitchFamily="34" charset="-122"/>
                <a:cs typeface="Calibri" pitchFamily="34" charset="-120"/>
              </a:rPr>
              <a:t>Traced 105 of those to one specific channel — Unpolarized_A_Green (hardware channel C5) — where the raw signal itself has near-zero amplitude in those windows.</a:t>
            </a:r>
            <a:endParaRPr lang="en-US" sz="1500" dirty="0"/>
          </a:p>
          <a:p>
            <a:pPr algn="l" indent="0" marL="0">
              <a:buNone/>
            </a:pPr>
            <a:r>
              <a:rPr lang="en-US" sz="1500" dirty="0">
                <a:solidFill>
                  <a:srgbClr val="222222"/>
                </a:solidFill>
                <a:latin typeface="Calibri" pitchFamily="34" charset="0"/>
                <a:ea typeface="Calibri" pitchFamily="34" charset="-122"/>
                <a:cs typeface="Calibri" pitchFamily="34" charset="-120"/>
              </a:rPr>
              <a:t>Looks more like a hardware/sensor issue on that channel than a pipeline bug, but wanted to flag it before assuming that.</a:t>
            </a:r>
            <a:endParaRPr lang="en-US" sz="1500" dirty="0"/>
          </a:p>
        </p:txBody>
      </p:sp>
      <p:sp>
        <p:nvSpPr>
          <p:cNvPr id="4" name="Shape 2"/>
          <p:cNvSpPr/>
          <p:nvPr/>
        </p:nvSpPr>
        <p:spPr>
          <a:xfrm>
            <a:off x="7589520" y="1188720"/>
            <a:ext cx="4114800" cy="5212080"/>
          </a:xfrm>
          <a:prstGeom prst="roundRect">
            <a:avLst>
              <a:gd name="adj" fmla="val 2667"/>
            </a:avLst>
          </a:prstGeom>
          <a:solidFill>
            <a:srgbClr val="F2F2F2"/>
          </a:solidFill>
          <a:ln w="19050">
            <a:solidFill>
              <a:srgbClr val="9AA0A6"/>
            </a:solidFill>
            <a:prstDash val="dash"/>
          </a:ln>
        </p:spPr>
      </p:sp>
      <p:sp>
        <p:nvSpPr>
          <p:cNvPr id="5" name="Text 3"/>
          <p:cNvSpPr txBox="1"/>
          <p:nvPr/>
        </p:nvSpPr>
        <p:spPr>
          <a:xfrm>
            <a:off x="7589520" y="1554480"/>
            <a:ext cx="4114800" cy="822960"/>
          </a:xfrm>
          <a:prstGeom prst="rect">
            <a:avLst/>
          </a:prstGeom>
          <a:noFill/>
          <a:ln/>
        </p:spPr>
        <p:txBody>
          <a:bodyPr wrap="square" lIns="0" tIns="0" rIns="0" bIns="0" rtlCol="0" anchor="ctr"/>
          <a:lstStyle/>
          <a:p>
            <a:pPr algn="ctr" indent="0" marL="0">
              <a:buNone/>
            </a:pPr>
            <a:r>
              <a:rPr lang="en-US" sz="3200" b="1" dirty="0">
                <a:solidFill>
                  <a:srgbClr val="9AA0A6"/>
                </a:solidFill>
                <a:latin typeface="Calibri" pitchFamily="34" charset="0"/>
                <a:ea typeface="Calibri" pitchFamily="34" charset="-122"/>
                <a:cs typeface="Calibri" pitchFamily="34" charset="-120"/>
              </a:rPr>
              <a:t>&lt;/&gt;</a:t>
            </a:r>
            <a:endParaRPr lang="en-US" sz="3200" dirty="0"/>
          </a:p>
        </p:txBody>
      </p:sp>
      <p:sp>
        <p:nvSpPr>
          <p:cNvPr id="6" name="Text 4"/>
          <p:cNvSpPr txBox="1"/>
          <p:nvPr/>
        </p:nvSpPr>
        <p:spPr>
          <a:xfrm>
            <a:off x="7589520" y="2468880"/>
            <a:ext cx="4114800" cy="457200"/>
          </a:xfrm>
          <a:prstGeom prst="rect">
            <a:avLst/>
          </a:prstGeom>
          <a:noFill/>
          <a:ln/>
        </p:spPr>
        <p:txBody>
          <a:bodyPr wrap="square" lIns="0" tIns="0" rIns="0" bIns="0" rtlCol="0" anchor="ctr"/>
          <a:lstStyle/>
          <a:p>
            <a:pPr algn="ctr" indent="0" marL="0">
              <a:buNone/>
            </a:pPr>
            <a:r>
              <a:rPr lang="en-US" sz="1600" b="1" dirty="0">
                <a:solidFill>
                  <a:srgbClr val="5A5A5A"/>
                </a:solidFill>
                <a:latin typeface="Calibri" pitchFamily="34" charset="0"/>
                <a:ea typeface="Calibri" pitchFamily="34" charset="-122"/>
                <a:cs typeface="Calibri" pitchFamily="34" charset="-120"/>
              </a:rPr>
              <a:t>Code snippet</a:t>
            </a:r>
            <a:endParaRPr lang="en-US" sz="1600" dirty="0"/>
          </a:p>
        </p:txBody>
      </p:sp>
      <p:sp>
        <p:nvSpPr>
          <p:cNvPr id="7" name="Text 5"/>
          <p:cNvSpPr txBox="1"/>
          <p:nvPr/>
        </p:nvSpPr>
        <p:spPr>
          <a:xfrm>
            <a:off x="7863840" y="2971800"/>
            <a:ext cx="3566160" cy="3200400"/>
          </a:xfrm>
          <a:prstGeom prst="rect">
            <a:avLst/>
          </a:prstGeom>
          <a:noFill/>
          <a:ln/>
        </p:spPr>
        <p:txBody>
          <a:bodyPr wrap="square" lIns="0" tIns="0" rIns="0" bIns="0" rtlCol="0" anchor="t"/>
          <a:lstStyle/>
          <a:p>
            <a:pPr algn="ctr" indent="0" marL="0">
              <a:buNone/>
            </a:pPr>
            <a:r>
              <a:rPr lang="en-US" sz="1200" i="1" dirty="0">
                <a:solidFill>
                  <a:srgbClr val="5A5A5A"/>
                </a:solidFill>
                <a:latin typeface="Calibri" pitchFamily="34" charset="0"/>
                <a:ea typeface="Calibri" pitchFamily="34" charset="-122"/>
                <a:cs typeface="Calibri" pitchFamily="34" charset="-120"/>
              </a:rPr>
              <a:t>e.g. affected channel's raw signal plot / compute_perfusion_index() output</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57200" y="274320"/>
            <a:ext cx="11247120" cy="685800"/>
          </a:xfrm>
          <a:prstGeom prst="rect">
            <a:avLst/>
          </a:prstGeom>
          <a:noFill/>
          <a:ln/>
        </p:spPr>
        <p:txBody>
          <a:bodyPr wrap="square" lIns="0" tIns="0" rIns="0" bIns="0" rtlCol="0" anchor="ctr"/>
          <a:lstStyle/>
          <a:p>
            <a:pPr algn="l" indent="0" marL="0">
              <a:buNone/>
            </a:pPr>
            <a:r>
              <a:rPr lang="en-US" sz="3000" b="1" dirty="0">
                <a:solidFill>
                  <a:srgbClr val="065A82"/>
                </a:solidFill>
                <a:latin typeface="Cambria" pitchFamily="34" charset="0"/>
                <a:ea typeface="Cambria" pitchFamily="34" charset="-122"/>
                <a:cs typeface="Cambria" pitchFamily="34" charset="-120"/>
              </a:rPr>
              <a:t>Open Issue: Threshold Retuning</a:t>
            </a:r>
            <a:endParaRPr lang="en-US" sz="3000" dirty="0"/>
          </a:p>
        </p:txBody>
      </p:sp>
      <p:sp>
        <p:nvSpPr>
          <p:cNvPr id="3" name="Text 1"/>
          <p:cNvSpPr txBox="1"/>
          <p:nvPr/>
        </p:nvSpPr>
        <p:spPr>
          <a:xfrm>
            <a:off x="457200" y="1188720"/>
            <a:ext cx="6675120" cy="5212080"/>
          </a:xfrm>
          <a:prstGeom prst="rect">
            <a:avLst/>
          </a:prstGeom>
          <a:noFill/>
          <a:ln/>
        </p:spPr>
        <p:txBody>
          <a:bodyPr wrap="square" lIns="0" tIns="0" rIns="0" bIns="0" rtlCol="0" anchor="t"/>
          <a:lstStyle/>
          <a:p>
            <a:pPr algn="l" indent="0" marL="0">
              <a:spcAft>
                <a:spcPts val="1200"/>
              </a:spcAft>
              <a:buNone/>
            </a:pPr>
            <a:r>
              <a:rPr lang="en-US" sz="1500" dirty="0">
                <a:solidFill>
                  <a:srgbClr val="222222"/>
                </a:solidFill>
                <a:latin typeface="Calibri" pitchFamily="34" charset="0"/>
                <a:ea typeface="Calibri" pitchFamily="34" charset="-122"/>
                <a:cs typeface="Calibri" pitchFamily="34" charset="-120"/>
              </a:rPr>
              <a:t>Beat comparison switched from raw-amplitude beats to normalized (0–1) beats, so a few thresholds (sqi_lambda, min_template_sqi, max_mad) tuned for the old scale were basically dead weight on the new one.</a:t>
            </a:r>
            <a:endParaRPr lang="en-US" sz="1500" dirty="0"/>
          </a:p>
          <a:p>
            <a:pPr algn="l" indent="0" marL="0">
              <a:spcAft>
                <a:spcPts val="1200"/>
              </a:spcAft>
              <a:buNone/>
            </a:pPr>
            <a:r>
              <a:rPr lang="en-US" sz="1500" dirty="0">
                <a:solidFill>
                  <a:srgbClr val="222222"/>
                </a:solidFill>
                <a:latin typeface="Calibri" pitchFamily="34" charset="0"/>
                <a:ea typeface="Calibri" pitchFamily="34" charset="-122"/>
                <a:cs typeface="Calibri" pitchFamily="34" charset="-120"/>
              </a:rPr>
              <a:t>Pulled real percentile distributions from ~43,000 actual beats and retuned those three thresholds to match.</a:t>
            </a:r>
            <a:endParaRPr lang="en-US" sz="1500" dirty="0"/>
          </a:p>
          <a:p>
            <a:pPr algn="l" indent="0" marL="0">
              <a:buNone/>
            </a:pPr>
            <a:r>
              <a:rPr lang="en-US" sz="1500" dirty="0">
                <a:solidFill>
                  <a:srgbClr val="222222"/>
                </a:solidFill>
                <a:latin typeface="Calibri" pitchFamily="34" charset="0"/>
                <a:ea typeface="Calibri" pitchFamily="34" charset="-122"/>
                <a:cs typeface="Calibri" pitchFamily="34" charset="-120"/>
              </a:rPr>
              <a:t>Reran with the new numbers — overall split barely moved (33.03% / 66.97% vs. 33.12% / 66.88%) — so we reverted back to the original numbers rather than carry non-standard values. Reasoning is documented in the code.</a:t>
            </a:r>
            <a:endParaRPr lang="en-US" sz="1500" dirty="0"/>
          </a:p>
        </p:txBody>
      </p:sp>
      <p:sp>
        <p:nvSpPr>
          <p:cNvPr id="4" name="Shape 2"/>
          <p:cNvSpPr/>
          <p:nvPr/>
        </p:nvSpPr>
        <p:spPr>
          <a:xfrm>
            <a:off x="7589520" y="1188720"/>
            <a:ext cx="4114800" cy="5212080"/>
          </a:xfrm>
          <a:prstGeom prst="roundRect">
            <a:avLst>
              <a:gd name="adj" fmla="val 2667"/>
            </a:avLst>
          </a:prstGeom>
          <a:solidFill>
            <a:srgbClr val="F2F2F2"/>
          </a:solidFill>
          <a:ln w="19050">
            <a:solidFill>
              <a:srgbClr val="9AA0A6"/>
            </a:solidFill>
            <a:prstDash val="dash"/>
          </a:ln>
        </p:spPr>
      </p:sp>
      <p:sp>
        <p:nvSpPr>
          <p:cNvPr id="5" name="Text 3"/>
          <p:cNvSpPr txBox="1"/>
          <p:nvPr/>
        </p:nvSpPr>
        <p:spPr>
          <a:xfrm>
            <a:off x="7589520" y="1554480"/>
            <a:ext cx="4114800" cy="822960"/>
          </a:xfrm>
          <a:prstGeom prst="rect">
            <a:avLst/>
          </a:prstGeom>
          <a:noFill/>
          <a:ln/>
        </p:spPr>
        <p:txBody>
          <a:bodyPr wrap="square" lIns="0" tIns="0" rIns="0" bIns="0" rtlCol="0" anchor="ctr"/>
          <a:lstStyle/>
          <a:p>
            <a:pPr algn="ctr" indent="0" marL="0">
              <a:buNone/>
            </a:pPr>
            <a:r>
              <a:rPr lang="en-US" sz="3200" b="1" dirty="0">
                <a:solidFill>
                  <a:srgbClr val="9AA0A6"/>
                </a:solidFill>
                <a:latin typeface="Calibri" pitchFamily="34" charset="0"/>
                <a:ea typeface="Calibri" pitchFamily="34" charset="-122"/>
                <a:cs typeface="Calibri" pitchFamily="34" charset="-120"/>
              </a:rPr>
              <a:t>&lt;/&gt;</a:t>
            </a:r>
            <a:endParaRPr lang="en-US" sz="3200" dirty="0"/>
          </a:p>
        </p:txBody>
      </p:sp>
      <p:sp>
        <p:nvSpPr>
          <p:cNvPr id="6" name="Text 4"/>
          <p:cNvSpPr txBox="1"/>
          <p:nvPr/>
        </p:nvSpPr>
        <p:spPr>
          <a:xfrm>
            <a:off x="7589520" y="2468880"/>
            <a:ext cx="4114800" cy="457200"/>
          </a:xfrm>
          <a:prstGeom prst="rect">
            <a:avLst/>
          </a:prstGeom>
          <a:noFill/>
          <a:ln/>
        </p:spPr>
        <p:txBody>
          <a:bodyPr wrap="square" lIns="0" tIns="0" rIns="0" bIns="0" rtlCol="0" anchor="ctr"/>
          <a:lstStyle/>
          <a:p>
            <a:pPr algn="ctr" indent="0" marL="0">
              <a:buNone/>
            </a:pPr>
            <a:r>
              <a:rPr lang="en-US" sz="1600" b="1" dirty="0">
                <a:solidFill>
                  <a:srgbClr val="5A5A5A"/>
                </a:solidFill>
                <a:latin typeface="Calibri" pitchFamily="34" charset="0"/>
                <a:ea typeface="Calibri" pitchFamily="34" charset="-122"/>
                <a:cs typeface="Calibri" pitchFamily="34" charset="-120"/>
              </a:rPr>
              <a:t>Code snippet</a:t>
            </a:r>
            <a:endParaRPr lang="en-US" sz="1600" dirty="0"/>
          </a:p>
        </p:txBody>
      </p:sp>
      <p:sp>
        <p:nvSpPr>
          <p:cNvPr id="7" name="Text 5"/>
          <p:cNvSpPr txBox="1"/>
          <p:nvPr/>
        </p:nvSpPr>
        <p:spPr>
          <a:xfrm>
            <a:off x="7863840" y="2971800"/>
            <a:ext cx="3566160" cy="3200400"/>
          </a:xfrm>
          <a:prstGeom prst="rect">
            <a:avLst/>
          </a:prstGeom>
          <a:noFill/>
          <a:ln/>
        </p:spPr>
        <p:txBody>
          <a:bodyPr wrap="square" lIns="0" tIns="0" rIns="0" bIns="0" rtlCol="0" anchor="t"/>
          <a:lstStyle/>
          <a:p>
            <a:pPr algn="ctr" indent="0" marL="0">
              <a:buNone/>
            </a:pPr>
            <a:r>
              <a:rPr lang="en-US" sz="1200" i="1" dirty="0">
                <a:solidFill>
                  <a:srgbClr val="5A5A5A"/>
                </a:solidFill>
                <a:latin typeface="Calibri" pitchFamily="34" charset="0"/>
                <a:ea typeface="Calibri" pitchFamily="34" charset="-122"/>
                <a:cs typeface="Calibri" pitchFamily="34" charset="-120"/>
              </a:rPr>
              <a:t>e.g. BeatSQIConfig defaults, before vs. after the retune</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21295C"/>
        </a:solidFill>
      </p:bgPr>
    </p:bg>
    <p:spTree>
      <p:nvGrpSpPr>
        <p:cNvPr id="1" name=""/>
        <p:cNvGrpSpPr/>
        <p:nvPr/>
      </p:nvGrpSpPr>
      <p:grpSpPr>
        <a:xfrm>
          <a:off x="0" y="0"/>
          <a:ext cx="0" cy="0"/>
          <a:chOff x="0" y="0"/>
          <a:chExt cx="0" cy="0"/>
        </a:xfrm>
      </p:grpSpPr>
      <p:sp>
        <p:nvSpPr>
          <p:cNvPr id="2" name="Text 0"/>
          <p:cNvSpPr txBox="1"/>
          <p:nvPr/>
        </p:nvSpPr>
        <p:spPr>
          <a:xfrm>
            <a:off x="548640" y="548640"/>
            <a:ext cx="11064240" cy="822960"/>
          </a:xfrm>
          <a:prstGeom prst="rect">
            <a:avLst/>
          </a:prstGeom>
          <a:noFill/>
          <a:ln/>
        </p:spPr>
        <p:txBody>
          <a:bodyPr wrap="square" lIns="0" tIns="0" rIns="0" bIns="0" rtlCol="0" anchor="ctr"/>
          <a:lstStyle/>
          <a:p>
            <a:pPr algn="l" indent="0" marL="0">
              <a:buNone/>
            </a:pPr>
            <a:r>
              <a:rPr lang="en-US" sz="3000" b="1" dirty="0">
                <a:solidFill>
                  <a:srgbClr val="FFFFFF"/>
                </a:solidFill>
                <a:latin typeface="Cambria" pitchFamily="34" charset="0"/>
                <a:ea typeface="Cambria" pitchFamily="34" charset="-122"/>
                <a:cs typeface="Cambria" pitchFamily="34" charset="-120"/>
              </a:rPr>
              <a:t>Open Questions for Mark &amp; Rutendo</a:t>
            </a:r>
            <a:endParaRPr lang="en-US" sz="3000" dirty="0"/>
          </a:p>
        </p:txBody>
      </p:sp>
      <p:sp>
        <p:nvSpPr>
          <p:cNvPr id="3" name="Text 1"/>
          <p:cNvSpPr txBox="1"/>
          <p:nvPr/>
        </p:nvSpPr>
        <p:spPr>
          <a:xfrm>
            <a:off x="731520" y="1920240"/>
            <a:ext cx="10515600" cy="4114800"/>
          </a:xfrm>
          <a:prstGeom prst="rect">
            <a:avLst/>
          </a:prstGeom>
          <a:noFill/>
          <a:ln/>
        </p:spPr>
        <p:txBody>
          <a:bodyPr wrap="square" lIns="0" tIns="0" rIns="0" bIns="0" rtlCol="0" anchor="t"/>
          <a:lstStyle/>
          <a:p>
            <a:pPr algn="l" marL="342900" indent="-342900">
              <a:lnSpc>
                <a:spcPct val="125000"/>
              </a:lnSpc>
              <a:spcAft>
                <a:spcPts val="2000"/>
              </a:spcAft>
              <a:buSzPct val="100000"/>
              <a:buChar char="•"/>
            </a:pPr>
            <a:r>
              <a:rPr lang="en-US" sz="1800" dirty="0">
                <a:solidFill>
                  <a:srgbClr val="FFFFFF"/>
                </a:solidFill>
                <a:latin typeface="Calibri" pitchFamily="34" charset="0"/>
                <a:ea typeface="Calibri" pitchFamily="34" charset="-122"/>
                <a:cs typeface="Calibri" pitchFamily="34" charset="-120"/>
              </a:rPr>
              <a:t>Is the Unpolarized_A_Green (C5) PI issue a hardware/sensor thing we should exclude or flag, or is there a processing fix worth trying?</a:t>
            </a:r>
            <a:endParaRPr lang="en-US" sz="1800" dirty="0"/>
          </a:p>
          <a:p>
            <a:pPr algn="l" marL="342900" indent="-342900">
              <a:lnSpc>
                <a:spcPct val="125000"/>
              </a:lnSpc>
              <a:buSzPct val="100000"/>
              <a:buChar char="•"/>
            </a:pPr>
            <a:r>
              <a:rPr lang="en-US" sz="1800" dirty="0">
                <a:solidFill>
                  <a:srgbClr val="FFFFFF"/>
                </a:solidFill>
                <a:latin typeface="Calibri" pitchFamily="34" charset="0"/>
                <a:ea typeface="Calibri" pitchFamily="34" charset="-122"/>
                <a:cs typeface="Calibri" pitchFamily="34" charset="-120"/>
              </a:rPr>
              <a:t>clipping_sqi values cluster tightly (roughly 0.55–0.94, median around 0.82) right around our 0.80 cutoff, for both good and bad beats. Worth rethinking whether the threshold or the underlying clipping formula needs adjusting?</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2026-09-09T22:01:07Z</dcterms:created>
  <dcterms:modified xsi:type="dcterms:W3CDTF">2026-09-09T22:01:07Z</dcterms:modified>
</cp:coreProperties>
</file>