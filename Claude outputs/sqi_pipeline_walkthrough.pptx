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731520" y="2286000"/>
            <a:ext cx="10698480" cy="109728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SQI Pipeline Walkthrough</a:t>
            </a:r>
            <a:endParaRPr lang="en-US" sz="4200" dirty="0"/>
          </a:p>
        </p:txBody>
      </p:sp>
      <p:sp>
        <p:nvSpPr>
          <p:cNvPr id="3" name="Text 1"/>
          <p:cNvSpPr txBox="1"/>
          <p:nvPr/>
        </p:nvSpPr>
        <p:spPr>
          <a:xfrm>
            <a:off x="731520" y="3337560"/>
            <a:ext cx="10058400" cy="64008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Stage by stage: what the code does, and why — as discussed with Mark &amp; Rutendo</a:t>
            </a:r>
            <a:endParaRPr lang="en-US" sz="1800" dirty="0"/>
          </a:p>
        </p:txBody>
      </p:sp>
      <p:sp>
        <p:nvSpPr>
          <p:cNvPr id="4" name="Text 2"/>
          <p:cNvSpPr txBox="1"/>
          <p:nvPr/>
        </p:nvSpPr>
        <p:spPr>
          <a:xfrm>
            <a:off x="731520" y="6126480"/>
            <a:ext cx="7315200" cy="365760"/>
          </a:xfrm>
          <a:prstGeom prst="rect">
            <a:avLst/>
          </a:prstGeom>
          <a:noFill/>
          <a:ln/>
        </p:spPr>
        <p:txBody>
          <a:bodyPr wrap="square" lIns="0" tIns="0" rIns="0" bIns="0" rtlCol="0" anchor="ctr"/>
          <a:lstStyle/>
          <a:p>
            <a:pPr algn="l" indent="0" marL="0">
              <a:buNone/>
            </a:pPr>
            <a:r>
              <a:rPr lang="en-US" sz="1200" dirty="0">
                <a:solidFill>
                  <a:srgbClr val="8FA6C9"/>
                </a:solidFill>
                <a:latin typeface="Calibri" pitchFamily="34" charset="0"/>
                <a:ea typeface="Calibri" pitchFamily="34" charset="-122"/>
                <a:cs typeface="Calibri" pitchFamily="34" charset="-120"/>
              </a:rPr>
              <a:t>Lab Meeting Update — Lupita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The Approved Pipeline</a:t>
            </a:r>
            <a:endParaRPr lang="en-US" sz="28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algn="l" indent="0" marL="0">
              <a:buNone/>
            </a:pPr>
            <a:r>
              <a:rPr lang="en-US" sz="1300" i="1" dirty="0">
                <a:solidFill>
                  <a:srgbClr val="5A5A5A"/>
                </a:solidFill>
                <a:latin typeface="Calibri" pitchFamily="34" charset="0"/>
                <a:ea typeface="Calibri" pitchFamily="34" charset="-122"/>
                <a:cs typeface="Calibri" pitchFamily="34" charset="-120"/>
              </a:rPr>
              <a:t>Signed off by Mark — full detail on the following slides</a:t>
            </a:r>
            <a:endParaRPr lang="en-US" sz="1300" dirty="0"/>
          </a:p>
        </p:txBody>
      </p:sp>
      <p:pic>
        <p:nvPicPr>
          <p:cNvPr id="4" name="Image 0" descr="/home/claude/work/full_pipeline_diagram.png">    </p:cNvPr>
          <p:cNvPicPr>
            <a:picLocks noChangeAspect="1"/>
          </p:cNvPicPr>
          <p:nvPr/>
        </p:nvPicPr>
        <p:blipFill>
          <a:blip r:embed="rId1"/>
          <a:stretch>
            <a:fillRect/>
          </a:stretch>
        </p:blipFill>
        <p:spPr>
          <a:xfrm>
            <a:off x="4160196" y="1097280"/>
            <a:ext cx="3841129" cy="5623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1</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Split Into Windows</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Raw PPG signal gets chopped into 10-second windows, and everything downstream — filtering, PI, beat segmentation, classification — runs independently on each window.</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This is the loop run_sqi_over_windows() drives, using iter_windows() to slice things up.</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iter_windows() / run_sqi_over_windows()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2</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Bandpass Filter</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Each window runs through a Chebyshev Type II bandpass filter — bandpass_filter() inside preprocess_ppg().</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This filtered version is what we use for beat segmentation and beat-to-beat comparison later on. It's NOT used for PI — filtering strips out the DC baseline that PI actually needs.</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bandpass_filter() / preprocess_ppg()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3</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Calculate PI</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PI is calculated in compute_perfusion_index(), straight off the RAW, unfiltered window — not the filtered one.</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This was one of the two big fixes after our last round of feedback: PI was blowing up to hundreds/thousands of percent when computed on the filtered signal, since the filter removes the DC component that AC/DC needs to mean anything.</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compute_perfusion_index()</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4</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Segment Into Beats</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segment_beats_by_valleys() finds individual beats by doing valley-to-valley detection on the filtered signal.</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This is where we went back to real beat-by-beat comparison after Mark pointed out we still needed it, instead of judging the whole window at once.</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segment_beats_by_valleys()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5</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Normalize Each Beat</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Every individual beat gets normalized on its own — resampled to a fixed length and min-max scaled to 0–1 — in normalize_single_beat().</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This is the per-beat normalization Mark meant. We'd originally built it as per-window, which he clarified wasn't what he had in mind.</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normalize_single_beat() / normalize_beats()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6</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Compare to a Template Beat</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A clean template gets built from the normalized beats — make_clean_template().</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Each beat gets compared against that template in compute_beat_features(): DTW distance, correlation, MAD, and clipping all get computed here.</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make_clean_template() / compute_beat_features()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7</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Classify Beat, Then Window</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classify_beat() labels each beat good/bad off those comparison metrics.</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run_beat_comparison() rolls that up into a percent-bad-beats number for the window, and the window gets marked bad if more than 30% of its beats are bad.</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classify_beat() / run_beat_comparison()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8</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Export CSV</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run_window_level_sqi() and run_sqi_over_windows() write one row per window to CSV.</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Each row has: PI (from the raw signal), the beat-comparison SQI values, the good/bad window label, and window/source info.</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run_window_level_sqi() / run_sqi_over_windows()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11247120" cy="320040"/>
          </a:xfrm>
          <a:prstGeom prst="rect">
            <a:avLst/>
          </a:prstGeom>
          <a:noFill/>
          <a:ln/>
        </p:spPr>
        <p:txBody>
          <a:bodyPr wrap="square" lIns="0" tIns="0" rIns="0" bIns="0" rtlCol="0" anchor="ctr"/>
          <a:lstStyle/>
          <a:p>
            <a:pPr algn="l" indent="0" marL="0">
              <a:buNone/>
            </a:pPr>
            <a:r>
              <a:rPr lang="en-US" sz="1300" b="1" spc="100" kern="0" dirty="0">
                <a:solidFill>
                  <a:srgbClr val="1C7293"/>
                </a:solidFill>
                <a:latin typeface="Calibri" pitchFamily="34" charset="0"/>
                <a:ea typeface="Calibri" pitchFamily="34" charset="-122"/>
                <a:cs typeface="Calibri" pitchFamily="34" charset="-120"/>
              </a:rPr>
              <a:t>STEP 9</a:t>
            </a:r>
            <a:endParaRPr lang="en-US" sz="1300" dirty="0"/>
          </a:p>
        </p:txBody>
      </p:sp>
      <p:sp>
        <p:nvSpPr>
          <p:cNvPr id="3" name="Text 1"/>
          <p:cNvSpPr txBox="1"/>
          <p:nvPr/>
        </p:nvSpPr>
        <p:spPr>
          <a:xfrm>
            <a:off x="457200" y="54864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Recording-Level Summary</a:t>
            </a:r>
            <a:endParaRPr lang="en-US" sz="2800" dirty="0"/>
          </a:p>
        </p:txBody>
      </p:sp>
      <p:sp>
        <p:nvSpPr>
          <p:cNvPr id="4" name="Text 2"/>
          <p:cNvSpPr txBox="1"/>
          <p:nvPr/>
        </p:nvSpPr>
        <p:spPr>
          <a:xfrm>
            <a:off x="457200" y="1371600"/>
            <a:ext cx="6675120" cy="5029200"/>
          </a:xfrm>
          <a:prstGeom prst="rect">
            <a:avLst/>
          </a:prstGeom>
          <a:noFill/>
          <a:ln/>
        </p:spPr>
        <p:txBody>
          <a:bodyPr wrap="square" lIns="0" tIns="0" rIns="0" bIns="0" rtlCol="0" anchor="t"/>
          <a:lstStyle/>
          <a:p>
            <a:pPr algn="l" indent="0" marL="0">
              <a:lnSpc>
                <a:spcPct val="115000"/>
              </a:lnSpc>
              <a:spcAft>
                <a:spcPts val="1200"/>
              </a:spcAft>
              <a:buNone/>
            </a:pPr>
            <a:r>
              <a:rPr lang="en-US" sz="1500" dirty="0">
                <a:solidFill>
                  <a:srgbClr val="222222"/>
                </a:solidFill>
                <a:latin typeface="Calibri" pitchFamily="34" charset="0"/>
                <a:ea typeface="Calibri" pitchFamily="34" charset="-122"/>
                <a:cs typeface="Calibri" pitchFamily="34" charset="-120"/>
              </a:rPr>
              <a:t>Each recording's process_*() function rolls all of that recording's windows up into %good / %bad windows.</a:t>
            </a:r>
            <a:endParaRPr lang="en-US" sz="1500" dirty="0"/>
          </a:p>
          <a:p>
            <a:pPr algn="l" indent="0" marL="0">
              <a:lnSpc>
                <a:spcPct val="115000"/>
              </a:lnSpc>
              <a:buNone/>
            </a:pPr>
            <a:r>
              <a:rPr lang="en-US" sz="1500" dirty="0">
                <a:solidFill>
                  <a:srgbClr val="222222"/>
                </a:solidFill>
                <a:latin typeface="Calibri" pitchFamily="34" charset="0"/>
                <a:ea typeface="Calibri" pitchFamily="34" charset="-122"/>
                <a:cs typeface="Calibri" pitchFamily="34" charset="-120"/>
              </a:rPr>
              <a:t>process_experiment1_complete(), process_day3_experiment2(), and process_day4_experiments() each do this for their respective data.</a:t>
            </a:r>
            <a:endParaRPr lang="en-US" sz="1500" dirty="0"/>
          </a:p>
        </p:txBody>
      </p:sp>
      <p:sp>
        <p:nvSpPr>
          <p:cNvPr id="5" name="Shape 3"/>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6" name="Text 4"/>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7" name="Text 5"/>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8" name="Text 6"/>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process_experiment1_complete() (or the Day 3/4 equivalents)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algn="l" indent="0" marL="0">
              <a:buNone/>
            </a:pPr>
            <a:r>
              <a:rPr lang="en-US" sz="2800" b="1" dirty="0">
                <a:solidFill>
                  <a:srgbClr val="065A82"/>
                </a:solidFill>
                <a:latin typeface="Cambria" pitchFamily="34" charset="0"/>
                <a:ea typeface="Cambria" pitchFamily="34" charset="-122"/>
                <a:cs typeface="Cambria" pitchFamily="34" charset="-120"/>
              </a:rPr>
              <a:t>Results on Real Data</a:t>
            </a:r>
            <a:endParaRPr lang="en-US" sz="2800" dirty="0"/>
          </a:p>
        </p:txBody>
      </p:sp>
      <p:sp>
        <p:nvSpPr>
          <p:cNvPr id="3" name="Text 1"/>
          <p:cNvSpPr txBox="1"/>
          <p:nvPr/>
        </p:nvSpPr>
        <p:spPr>
          <a:xfrm>
            <a:off x="457200" y="1188720"/>
            <a:ext cx="6675120" cy="73152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Implemented and running across Day 2 / 3 / 4 recordings.</a:t>
            </a:r>
            <a:endParaRPr lang="en-US" sz="1500" dirty="0"/>
          </a:p>
        </p:txBody>
      </p:sp>
      <p:sp>
        <p:nvSpPr>
          <p:cNvPr id="4" name="Shape 2"/>
          <p:cNvSpPr/>
          <p:nvPr/>
        </p:nvSpPr>
        <p:spPr>
          <a:xfrm>
            <a:off x="457200" y="2103120"/>
            <a:ext cx="3200400" cy="1554480"/>
          </a:xfrm>
          <a:prstGeom prst="roundRect">
            <a:avLst>
              <a:gd name="adj" fmla="val 4706"/>
            </a:avLst>
          </a:prstGeom>
          <a:solidFill>
            <a:srgbClr val="EAF3F8"/>
          </a:solidFill>
          <a:ln w="12700">
            <a:solidFill>
              <a:srgbClr val="1C7293"/>
            </a:solidFill>
            <a:prstDash val="solid"/>
          </a:ln>
        </p:spPr>
      </p:sp>
      <p:sp>
        <p:nvSpPr>
          <p:cNvPr id="5" name="Text 3"/>
          <p:cNvSpPr txBox="1"/>
          <p:nvPr/>
        </p:nvSpPr>
        <p:spPr>
          <a:xfrm>
            <a:off x="457200" y="2194560"/>
            <a:ext cx="3200400" cy="1371600"/>
          </a:xfrm>
          <a:prstGeom prst="rect">
            <a:avLst/>
          </a:prstGeom>
          <a:noFill/>
          <a:ln/>
        </p:spPr>
        <p:txBody>
          <a:bodyPr wrap="square" lIns="0" tIns="0" rIns="0" bIns="0" rtlCol="0" anchor="ctr"/>
          <a:lstStyle/>
          <a:p>
            <a:pPr algn="ctr" indent="0" marL="0">
              <a:buNone/>
            </a:pPr>
            <a:r>
              <a:rPr lang="en-US" sz="3800" b="1" dirty="0">
                <a:solidFill>
                  <a:srgbClr val="065A82"/>
                </a:solidFill>
                <a:latin typeface="Calibri" pitchFamily="34" charset="0"/>
                <a:ea typeface="Calibri" pitchFamily="34" charset="-122"/>
                <a:cs typeface="Calibri" pitchFamily="34" charset="-120"/>
              </a:rPr>
              <a:t>33.12%</a:t>
            </a:r>
            <a:endParaRPr lang="en-US" sz="3800" dirty="0"/>
          </a:p>
          <a:p>
            <a:pPr algn="ctr" indent="0" marL="0">
              <a:buNone/>
            </a:pPr>
            <a:r>
              <a:rPr lang="en-US" sz="1300" dirty="0">
                <a:solidFill>
                  <a:srgbClr val="5A5A5A"/>
                </a:solidFill>
                <a:latin typeface="Calibri" pitchFamily="34" charset="0"/>
                <a:ea typeface="Calibri" pitchFamily="34" charset="-122"/>
                <a:cs typeface="Calibri" pitchFamily="34" charset="-120"/>
              </a:rPr>
              <a:t>Good Windows</a:t>
            </a:r>
            <a:endParaRPr lang="en-US" sz="3800" dirty="0"/>
          </a:p>
        </p:txBody>
      </p:sp>
      <p:sp>
        <p:nvSpPr>
          <p:cNvPr id="6" name="Shape 4"/>
          <p:cNvSpPr/>
          <p:nvPr/>
        </p:nvSpPr>
        <p:spPr>
          <a:xfrm>
            <a:off x="3931920" y="2103120"/>
            <a:ext cx="3200400" cy="1554480"/>
          </a:xfrm>
          <a:prstGeom prst="roundRect">
            <a:avLst>
              <a:gd name="adj" fmla="val 4706"/>
            </a:avLst>
          </a:prstGeom>
          <a:solidFill>
            <a:srgbClr val="FBEAEA"/>
          </a:solidFill>
          <a:ln w="12700">
            <a:solidFill>
              <a:srgbClr val="A33D3D"/>
            </a:solidFill>
            <a:prstDash val="solid"/>
          </a:ln>
        </p:spPr>
      </p:sp>
      <p:sp>
        <p:nvSpPr>
          <p:cNvPr id="7" name="Text 5"/>
          <p:cNvSpPr txBox="1"/>
          <p:nvPr/>
        </p:nvSpPr>
        <p:spPr>
          <a:xfrm>
            <a:off x="3931920" y="2194560"/>
            <a:ext cx="3200400" cy="1371600"/>
          </a:xfrm>
          <a:prstGeom prst="rect">
            <a:avLst/>
          </a:prstGeom>
          <a:noFill/>
          <a:ln/>
        </p:spPr>
        <p:txBody>
          <a:bodyPr wrap="square" lIns="0" tIns="0" rIns="0" bIns="0" rtlCol="0" anchor="ctr"/>
          <a:lstStyle/>
          <a:p>
            <a:pPr algn="ctr" indent="0" marL="0">
              <a:buNone/>
            </a:pPr>
            <a:r>
              <a:rPr lang="en-US" sz="3800" b="1" dirty="0">
                <a:solidFill>
                  <a:srgbClr val="A33D3D"/>
                </a:solidFill>
                <a:latin typeface="Calibri" pitchFamily="34" charset="0"/>
                <a:ea typeface="Calibri" pitchFamily="34" charset="-122"/>
                <a:cs typeface="Calibri" pitchFamily="34" charset="-120"/>
              </a:rPr>
              <a:t>66.88%</a:t>
            </a:r>
            <a:endParaRPr lang="en-US" sz="3800" dirty="0"/>
          </a:p>
          <a:p>
            <a:pPr algn="ctr" indent="0" marL="0">
              <a:buNone/>
            </a:pPr>
            <a:r>
              <a:rPr lang="en-US" sz="1300" dirty="0">
                <a:solidFill>
                  <a:srgbClr val="5A5A5A"/>
                </a:solidFill>
                <a:latin typeface="Calibri" pitchFamily="34" charset="0"/>
                <a:ea typeface="Calibri" pitchFamily="34" charset="-122"/>
                <a:cs typeface="Calibri" pitchFamily="34" charset="-120"/>
              </a:rPr>
              <a:t>Bad Windows</a:t>
            </a:r>
            <a:endParaRPr lang="en-US" sz="3800" dirty="0"/>
          </a:p>
        </p:txBody>
      </p:sp>
      <p:sp>
        <p:nvSpPr>
          <p:cNvPr id="8" name="Text 6"/>
          <p:cNvSpPr txBox="1"/>
          <p:nvPr/>
        </p:nvSpPr>
        <p:spPr>
          <a:xfrm>
            <a:off x="457200" y="3931920"/>
            <a:ext cx="6675120" cy="1097280"/>
          </a:xfrm>
          <a:prstGeom prst="rect">
            <a:avLst/>
          </a:prstGeom>
          <a:noFill/>
          <a:ln/>
        </p:spPr>
        <p:txBody>
          <a:bodyPr wrap="square" lIns="0" tIns="0" rIns="0" bIns="0" rtlCol="0" anchor="t"/>
          <a:lstStyle/>
          <a:p>
            <a:pPr algn="l" indent="0" marL="0">
              <a:buNone/>
            </a:pPr>
            <a:r>
              <a:rPr lang="en-US" sz="1500" dirty="0">
                <a:solidFill>
                  <a:srgbClr val="222222"/>
                </a:solidFill>
                <a:latin typeface="Calibri" pitchFamily="34" charset="0"/>
                <a:ea typeface="Calibri" pitchFamily="34" charset="-122"/>
                <a:cs typeface="Calibri" pitchFamily="34" charset="-120"/>
              </a:rPr>
              <a:t>Fully reproducible — reran it and got the exact same split, so the pipeline itself is deterministic (nothing random going on).</a:t>
            </a:r>
            <a:endParaRPr lang="en-US" sz="1500" dirty="0"/>
          </a:p>
        </p:txBody>
      </p:sp>
      <p:sp>
        <p:nvSpPr>
          <p:cNvPr id="9" name="Shape 7"/>
          <p:cNvSpPr/>
          <p:nvPr/>
        </p:nvSpPr>
        <p:spPr>
          <a:xfrm>
            <a:off x="7589520" y="1371600"/>
            <a:ext cx="4114800" cy="5029200"/>
          </a:xfrm>
          <a:prstGeom prst="roundRect">
            <a:avLst>
              <a:gd name="adj" fmla="val 2667"/>
            </a:avLst>
          </a:prstGeom>
          <a:solidFill>
            <a:srgbClr val="F2F2F2"/>
          </a:solidFill>
          <a:ln w="19050">
            <a:solidFill>
              <a:srgbClr val="9AA0A6"/>
            </a:solidFill>
            <a:prstDash val="dash"/>
          </a:ln>
        </p:spPr>
      </p:sp>
      <p:sp>
        <p:nvSpPr>
          <p:cNvPr id="10" name="Text 8"/>
          <p:cNvSpPr txBox="1"/>
          <p:nvPr/>
        </p:nvSpPr>
        <p:spPr>
          <a:xfrm>
            <a:off x="7589520" y="1737360"/>
            <a:ext cx="4114800" cy="822960"/>
          </a:xfrm>
          <a:prstGeom prst="rect">
            <a:avLst/>
          </a:prstGeom>
          <a:noFill/>
          <a:ln/>
        </p:spPr>
        <p:txBody>
          <a:bodyPr wrap="square" lIns="0" tIns="0" rIns="0" bIns="0" rtlCol="0" anchor="ctr"/>
          <a:lstStyle/>
          <a:p>
            <a:pPr algn="ctr" indent="0" marL="0">
              <a:buNone/>
            </a:pPr>
            <a:r>
              <a:rPr lang="en-US" sz="3200" b="1" dirty="0">
                <a:solidFill>
                  <a:srgbClr val="9AA0A6"/>
                </a:solidFill>
                <a:latin typeface="Calibri" pitchFamily="34" charset="0"/>
                <a:ea typeface="Calibri" pitchFamily="34" charset="-122"/>
                <a:cs typeface="Calibri" pitchFamily="34" charset="-120"/>
              </a:rPr>
              <a:t>&lt;/&gt;</a:t>
            </a:r>
            <a:endParaRPr lang="en-US" sz="3200" dirty="0"/>
          </a:p>
        </p:txBody>
      </p:sp>
      <p:sp>
        <p:nvSpPr>
          <p:cNvPr id="11" name="Text 9"/>
          <p:cNvSpPr txBox="1"/>
          <p:nvPr/>
        </p:nvSpPr>
        <p:spPr>
          <a:xfrm>
            <a:off x="7589520" y="2606040"/>
            <a:ext cx="4114800" cy="457200"/>
          </a:xfrm>
          <a:prstGeom prst="rect">
            <a:avLst/>
          </a:prstGeom>
          <a:noFill/>
          <a:ln/>
        </p:spPr>
        <p:txBody>
          <a:bodyPr wrap="square" lIns="0" tIns="0" rIns="0" bIns="0" rtlCol="0" anchor="ctr"/>
          <a:lstStyle/>
          <a:p>
            <a:pPr algn="ctr" indent="0" marL="0">
              <a:buNone/>
            </a:pPr>
            <a:r>
              <a:rPr lang="en-US" sz="1600" b="1" dirty="0">
                <a:solidFill>
                  <a:srgbClr val="5A5A5A"/>
                </a:solidFill>
                <a:latin typeface="Calibri" pitchFamily="34" charset="0"/>
                <a:ea typeface="Calibri" pitchFamily="34" charset="-122"/>
                <a:cs typeface="Calibri" pitchFamily="34" charset="-120"/>
              </a:rPr>
              <a:t>Code snippet</a:t>
            </a:r>
            <a:endParaRPr lang="en-US" sz="1600" dirty="0"/>
          </a:p>
        </p:txBody>
      </p:sp>
      <p:sp>
        <p:nvSpPr>
          <p:cNvPr id="12" name="Text 10"/>
          <p:cNvSpPr txBox="1"/>
          <p:nvPr/>
        </p:nvSpPr>
        <p:spPr>
          <a:xfrm>
            <a:off x="7863840" y="3108960"/>
            <a:ext cx="3566160" cy="3108960"/>
          </a:xfrm>
          <a:prstGeom prst="rect">
            <a:avLst/>
          </a:prstGeom>
          <a:noFill/>
          <a:ln/>
        </p:spPr>
        <p:txBody>
          <a:bodyPr wrap="square" lIns="0" tIns="0" rIns="0" bIns="0" rtlCol="0" anchor="t"/>
          <a:lstStyle/>
          <a:p>
            <a:pPr algn="ctr" indent="0" marL="0">
              <a:buNone/>
            </a:pPr>
            <a:r>
              <a:rPr lang="en-US" sz="1200" i="1" dirty="0">
                <a:solidFill>
                  <a:srgbClr val="5A5A5A"/>
                </a:solidFill>
                <a:latin typeface="Calibri" pitchFamily="34" charset="0"/>
                <a:ea typeface="Calibri" pitchFamily="34" charset="-122"/>
                <a:cs typeface="Calibri" pitchFamily="34" charset="-120"/>
              </a:rPr>
              <a:t>e.g. terminal output / summary CSV screenshot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54864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Open Questions for Mark &amp; Rutendo</a:t>
            </a:r>
            <a:endParaRPr lang="en-US" sz="3000" dirty="0"/>
          </a:p>
        </p:txBody>
      </p:sp>
      <p:sp>
        <p:nvSpPr>
          <p:cNvPr id="3" name="Text 1"/>
          <p:cNvSpPr txBox="1"/>
          <p:nvPr/>
        </p:nvSpPr>
        <p:spPr>
          <a:xfrm>
            <a:off x="731520" y="1920240"/>
            <a:ext cx="10515600" cy="4114800"/>
          </a:xfrm>
          <a:prstGeom prst="rect">
            <a:avLst/>
          </a:prstGeom>
          <a:noFill/>
          <a:ln/>
        </p:spPr>
        <p:txBody>
          <a:bodyPr wrap="square" lIns="0" tIns="0" rIns="0" bIns="0" rtlCol="0" anchor="t"/>
          <a:lstStyle/>
          <a:p>
            <a:pPr algn="l" marL="342900" indent="-342900">
              <a:lnSpc>
                <a:spcPct val="125000"/>
              </a:lnSpc>
              <a:spcAft>
                <a:spcPts val="2000"/>
              </a:spcAft>
              <a:buSzPct val="100000"/>
              <a:buChar char="•"/>
            </a:pPr>
            <a:r>
              <a:rPr lang="en-US" sz="1800" dirty="0">
                <a:solidFill>
                  <a:srgbClr val="FFFFFF"/>
                </a:solidFill>
                <a:latin typeface="Calibri" pitchFamily="34" charset="0"/>
                <a:ea typeface="Calibri" pitchFamily="34" charset="-122"/>
                <a:cs typeface="Calibri" pitchFamily="34" charset="-120"/>
              </a:rPr>
              <a:t>Is the Unpolarized_A_Green (C5) PI issue a hardware/sensor thing we should exclude or flag, or is there a processing fix worth trying?</a:t>
            </a:r>
            <a:endParaRPr lang="en-US" sz="1800" dirty="0"/>
          </a:p>
          <a:p>
            <a:pPr algn="l" marL="342900" indent="-342900">
              <a:lnSpc>
                <a:spcPct val="125000"/>
              </a:lnSpc>
              <a:buSzPct val="100000"/>
              <a:buChar char="•"/>
            </a:pPr>
            <a:r>
              <a:rPr lang="en-US" sz="1800" dirty="0">
                <a:solidFill>
                  <a:srgbClr val="FFFFFF"/>
                </a:solidFill>
                <a:latin typeface="Calibri" pitchFamily="34" charset="0"/>
                <a:ea typeface="Calibri" pitchFamily="34" charset="-122"/>
                <a:cs typeface="Calibri" pitchFamily="34" charset="-120"/>
              </a:rPr>
              <a:t>clipping_sqi values cluster tightly (roughly 0.55–0.94, median around 0.82) right around our 0.80 cutoff, for both good and bad beats. Worth rethinking whether the threshold or the underlying clipping formula needs adjusting?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2026-09-09T22:06:38Z</dcterms:created>
  <dcterms:modified xsi:type="dcterms:W3CDTF">2026-09-09T22:06:38Z</dcterms:modified>
</cp:coreProperties>
</file>